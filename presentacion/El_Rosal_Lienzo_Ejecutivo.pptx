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(0:00 - 1:00) Buenos días, honorable jurado. Representamos al Municipio de El Rosal. En el marco del Concurso Datos al Ecosistema 2026, venimos a presentar una solución que cierra la brecha entre los datos abiertos y la toma de decisiones ejecutiva. Les presentamos nuestro Generador de Lienzos Ejecutivos con Inteligencia Artificial.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(1:00 - 2:00) Aunque Colombia tiene un portafolio robusto en datos.gov.co, si un alcalde, un secretario o un ciudadano quiere entender las cifras de morbilidad o presupuesto, se encuentra con tablas de miles de filas. Analizarlas requiere herramientas costosas y personal técnico. Los datos existen, pero no son accionables para el ciudadano de a pie ni para el tomador de decisiones.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(2:00 - 3:15) Nuestra propuesta es disruptiva porque no es solo un dashboard estático. Es un motor heurístico que lee cualquier base de datos, la entiende, propone los indicadores más relevantes y genera un lienzo ejecutivo. Todo en el navegador, sin instalar nada, en menos de un minuto. Convierte la complejidad técnica en claridad visual.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(3:15 - 4:30) Priorizamos el ecosistema nacional. Nuestra app no solo consume los datos de datos.gov.co, sino que hace una lectura profunda de sus metadatos. Como ven en pantalla, extraemos en tiempo real la institución publicadora, su orden (Nacional, Departamental o Municipal), las vistas, las descargas exactas y el enlace oficial, validando la rigurosidad de la fuente. Además, descargamos hasta 50.000 filas a la memoria del navegador para garantizar cálculos exactos sin saturar servidores.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(4:30 - 5:45) El rigor técnico es el núcleo de la aplicación. Al cargar los datos, el algoritmo hace un muestreo y perfila cada columna clasificándola en Fecha, Dimensión o Medida. Esto no es una plantilla fija; el sistema construye agregaciones matemáticas dinámicas. Si detecta una columna de 'Edad', agrupa en rangos. Si detecta un código de departamento, lo ignora para sumas. El análisis se adapta estadísticamente a la estructura de la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(5:45 - 7:15) Aplicamos IA de tres formas. Primero, un motor heurístico evalúa las combinaciones lógicas y te sugiere: 'Basado en tus datos, lo más relevante es esta tendencia y este Top 10'. Segundo, implementamos análisis predictivo: si hay datos históricos, el sistema calcula la tasa de crecimiento promedio y proyecta matemáticamente el siguiente periodo, marcándolo con un badge de 'Estimado'. Tercero, inteligencia de diseño: el lienzo se acomoda solo para no dejar espacios vacíos, combinando automatización con el control manual del usuario.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(7:15 - 8:30) La usabilidad es de grado empresarial. El usuario revisa su plan en una interfaz limpia, selecciona qué elementos incluir, y con un clic genera el lienzo. Para la exportación, implementamos una lógica de 'Slicing' que divide el lienzo en páginas A4 horizontales en alta resolución, listas para imprimir o llevar a una consejería. La información no se deforma, se comunica con claridad.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(8:30 - 9:30) El impacto es inmediato. Socialmente, cierra la brecha digital permitiendo a cualquier ciudadano auditar a su gobierno. Económicamente, elimina barreras de licencias comerciales para municipios pequeños como El Rosal. Su escalabilidad es total: hoy procesa datos de Colombia, pero su arquitectura es agnóstica y replicable en cualquier portal de datos abiertos del país o de la región.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(9:30 - 9:50) Para concluir, les voy a mostrar lo fácil que es. [Buscas 'Educación' o 'Morbilidad' en la app, haces clic en un dataset, esperas a que cargue el plan, clicas en 'Generar Lienzo', y luego en 'Descargar PDF']. Como ven, en menos de un minuto transformamos una tabla cruda en un informe ejecutivo listo para gobernar.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(9:50 - 10:00) Los datos abiertos solo son útiles cuando se transforman en conocimiento accionable. Desde El Rosal, demostramos que con tecnología de frontera y creatividad, podemos acercar los datos a la gente. Muchas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E3A5F">
              <a:alpha val="45000"/>
            </a:srgbClr>
          </a:solidFill>
          <a:ln/>
        </p:spPr>
      </p:sp>
      <p:sp>
        <p:nvSpPr>
          <p:cNvPr id="3" name="Shape 1"/>
          <p:cNvSpPr/>
          <p:nvPr/>
        </p:nvSpPr>
        <p:spPr>
          <a:xfrm>
            <a:off x="-2286000" y="4206240"/>
            <a:ext cx="4754880" cy="4754880"/>
          </a:xfrm>
          <a:prstGeom prst="ellipse">
            <a:avLst/>
          </a:prstGeom>
          <a:solidFill>
            <a:srgbClr val="0EA5E9">
              <a:alpha val="12000"/>
            </a:srgbClr>
          </a:solidFill>
          <a:ln/>
        </p:spPr>
      </p:sp>
      <p:sp>
        <p:nvSpPr>
          <p:cNvPr id="4" name="Text 2"/>
          <p:cNvSpPr/>
          <p:nvPr/>
        </p:nvSpPr>
        <p:spPr>
          <a:xfrm>
            <a:off x="822960" y="1417320"/>
            <a:ext cx="9144000" cy="365760"/>
          </a:xfrm>
          <a:prstGeom prst="rect">
            <a:avLst/>
          </a:prstGeom>
          <a:noFill/>
          <a:ln/>
        </p:spPr>
        <p:txBody>
          <a:bodyPr wrap="square" lIns="0" tIns="0" rIns="0" bIns="0" rtlCol="0" anchor="ctr"/>
          <a:lstStyle/>
          <a:p>
            <a:pPr indent="0" marL="0">
              <a:buNone/>
            </a:pPr>
            <a:r>
              <a:rPr lang="en-US" sz="1300" b="1" spc="200" kern="0" dirty="0">
                <a:solidFill>
                  <a:srgbClr val="0EA5E9"/>
                </a:solidFill>
                <a:latin typeface="Segoe UI" pitchFamily="34" charset="0"/>
                <a:ea typeface="Segoe UI" pitchFamily="34" charset="-122"/>
                <a:cs typeface="Segoe UI" pitchFamily="34" charset="-120"/>
              </a:rPr>
              <a:t>MUNICIPIO DE EL ROSAL, CUNDINAMARCA</a:t>
            </a:r>
            <a:endParaRPr lang="en-US" sz="1300" dirty="0"/>
          </a:p>
        </p:txBody>
      </p:sp>
      <p:sp>
        <p:nvSpPr>
          <p:cNvPr id="5" name="Text 3"/>
          <p:cNvSpPr/>
          <p:nvPr/>
        </p:nvSpPr>
        <p:spPr>
          <a:xfrm>
            <a:off x="822960" y="1874520"/>
            <a:ext cx="9875520" cy="210312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Segoe UI" pitchFamily="34" charset="0"/>
                <a:ea typeface="Segoe UI" pitchFamily="34" charset="-122"/>
                <a:cs typeface="Segoe UI" pitchFamily="34" charset="-120"/>
              </a:rPr>
              <a:t>Del Dato Crudo a la Decisión:</a:t>
            </a:r>
            <a:endParaRPr lang="en-US" sz="4200" dirty="0"/>
          </a:p>
          <a:p>
            <a:pPr indent="0" marL="0">
              <a:lnSpc>
                <a:spcPts val="4600"/>
              </a:lnSpc>
              <a:buNone/>
            </a:pPr>
            <a:r>
              <a:rPr lang="en-US" sz="4200" b="1" dirty="0">
                <a:solidFill>
                  <a:srgbClr val="FFFFFF"/>
                </a:solidFill>
                <a:latin typeface="Segoe UI" pitchFamily="34" charset="0"/>
                <a:ea typeface="Segoe UI" pitchFamily="34" charset="-122"/>
                <a:cs typeface="Segoe UI" pitchFamily="34" charset="-120"/>
              </a:rPr>
              <a:t>Lienzos Ejecutivos con IA</a:t>
            </a:r>
            <a:endParaRPr lang="en-US" sz="4200" dirty="0"/>
          </a:p>
        </p:txBody>
      </p:sp>
      <p:sp>
        <p:nvSpPr>
          <p:cNvPr id="6" name="Text 4"/>
          <p:cNvSpPr/>
          <p:nvPr/>
        </p:nvSpPr>
        <p:spPr>
          <a:xfrm>
            <a:off x="822960" y="3977640"/>
            <a:ext cx="8686800" cy="457200"/>
          </a:xfrm>
          <a:prstGeom prst="rect">
            <a:avLst/>
          </a:prstGeom>
          <a:noFill/>
          <a:ln/>
        </p:spPr>
        <p:txBody>
          <a:bodyPr wrap="square" lIns="0" tIns="0" rIns="0" bIns="0" rtlCol="0" anchor="ctr"/>
          <a:lstStyle/>
          <a:p>
            <a:pPr indent="0" marL="0">
              <a:buNone/>
            </a:pPr>
            <a:r>
              <a:rPr lang="en-US" sz="1600" dirty="0">
                <a:solidFill>
                  <a:srgbClr val="CBD5E1"/>
                </a:solidFill>
                <a:latin typeface="Segoe UI" pitchFamily="34" charset="0"/>
                <a:ea typeface="Segoe UI" pitchFamily="34" charset="-122"/>
                <a:cs typeface="Segoe UI" pitchFamily="34" charset="-120"/>
              </a:rPr>
              <a:t>Concurso Datos al Ecosistema 2026 · Innovación y Tecnología</a:t>
            </a:r>
            <a:endParaRPr lang="en-US" sz="1600" dirty="0"/>
          </a:p>
        </p:txBody>
      </p:sp>
      <p:sp>
        <p:nvSpPr>
          <p:cNvPr id="7" name="Shape 5"/>
          <p:cNvSpPr/>
          <p:nvPr/>
        </p:nvSpPr>
        <p:spPr>
          <a:xfrm>
            <a:off x="822960" y="4892040"/>
            <a:ext cx="777240" cy="777240"/>
          </a:xfrm>
          <a:prstGeom prst="roundRect">
            <a:avLst>
              <a:gd name="adj" fmla="val 21176"/>
            </a:avLst>
          </a:prstGeom>
          <a:solidFill>
            <a:srgbClr val="FFFFFF">
              <a:alpha val="10000"/>
            </a:srgbClr>
          </a:solidFill>
          <a:ln w="15875">
            <a:solidFill>
              <a:srgbClr val="0EA5E9"/>
            </a:solidFill>
            <a:prstDash val="solid"/>
          </a:ln>
        </p:spPr>
      </p:sp>
      <p:pic>
        <p:nvPicPr>
          <p:cNvPr id="8" name="Image 0" descr="/home/claude/pptx-lienzo/icons/grid.png">    </p:cNvPr>
          <p:cNvPicPr>
            <a:picLocks noChangeAspect="1"/>
          </p:cNvPicPr>
          <p:nvPr/>
        </p:nvPicPr>
        <p:blipFill>
          <a:blip r:embed="rId1"/>
          <a:stretch>
            <a:fillRect/>
          </a:stretch>
        </p:blipFill>
        <p:spPr>
          <a:xfrm>
            <a:off x="1014984" y="5084064"/>
            <a:ext cx="393192" cy="393192"/>
          </a:xfrm>
          <a:prstGeom prst="rect">
            <a:avLst/>
          </a:prstGeom>
        </p:spPr>
      </p:pic>
      <p:sp>
        <p:nvSpPr>
          <p:cNvPr id="9" name="Text 6"/>
          <p:cNvSpPr/>
          <p:nvPr/>
        </p:nvSpPr>
        <p:spPr>
          <a:xfrm>
            <a:off x="1783080" y="4956048"/>
            <a:ext cx="5486400" cy="320040"/>
          </a:xfrm>
          <a:prstGeom prst="rect">
            <a:avLst/>
          </a:prstGeom>
          <a:noFill/>
          <a:ln/>
        </p:spPr>
        <p:txBody>
          <a:bodyPr wrap="square" lIns="0" tIns="0" rIns="0" bIns="0"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Generador de Lienzos Ejecutivos</a:t>
            </a:r>
            <a:endParaRPr lang="en-US" sz="1300" dirty="0"/>
          </a:p>
        </p:txBody>
      </p:sp>
      <p:sp>
        <p:nvSpPr>
          <p:cNvPr id="10" name="Text 7"/>
          <p:cNvSpPr/>
          <p:nvPr/>
        </p:nvSpPr>
        <p:spPr>
          <a:xfrm>
            <a:off x="1783080" y="5248656"/>
            <a:ext cx="5486400" cy="274320"/>
          </a:xfrm>
          <a:prstGeom prst="rect">
            <a:avLst/>
          </a:prstGeom>
          <a:noFill/>
          <a:ln/>
        </p:spPr>
        <p:txBody>
          <a:bodyPr wrap="square" lIns="0" tIns="0" rIns="0" bIns="0"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Datos abiertos + IA, en el navegador</a:t>
            </a:r>
            <a:endParaRPr lang="en-US" sz="1100" dirty="0"/>
          </a:p>
        </p:txBody>
      </p:sp>
      <p:sp>
        <p:nvSpPr>
          <p:cNvPr id="11" name="Text 8"/>
          <p:cNvSpPr/>
          <p:nvPr/>
        </p:nvSpPr>
        <p:spPr>
          <a:xfrm>
            <a:off x="11000232" y="6419088"/>
            <a:ext cx="914400" cy="274320"/>
          </a:xfrm>
          <a:prstGeom prst="rect">
            <a:avLst/>
          </a:prstGeom>
          <a:noFill/>
          <a:ln/>
        </p:spPr>
        <p:txBody>
          <a:bodyPr wrap="square" lIns="0" tIns="0" rIns="0" bIns="0" rtlCol="0" anchor="ctr"/>
          <a:lstStyle/>
          <a:p>
            <a:pPr algn="r" indent="0" marL="0">
              <a:buNone/>
            </a:pPr>
            <a:r>
              <a:rPr lang="en-US" sz="950" dirty="0">
                <a:solidFill>
                  <a:srgbClr val="64748B"/>
                </a:solidFill>
                <a:latin typeface="Segoe UI" pitchFamily="34" charset="0"/>
                <a:ea typeface="Segoe UI" pitchFamily="34" charset="-122"/>
                <a:cs typeface="Segoe UI" pitchFamily="34" charset="-120"/>
              </a:rPr>
              <a:t>01 / 10</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A5E9"/>
                </a:solidFill>
                <a:latin typeface="Segoe UI" pitchFamily="34" charset="0"/>
                <a:ea typeface="Segoe UI" pitchFamily="34" charset="-122"/>
                <a:cs typeface="Segoe UI" pitchFamily="34" charset="-120"/>
              </a:rPr>
              <a:t>EL RETO</a:t>
            </a:r>
            <a:endParaRPr lang="en-US" sz="1250" dirty="0"/>
          </a:p>
        </p:txBody>
      </p:sp>
      <p:sp>
        <p:nvSpPr>
          <p:cNvPr id="3" name="Text 1"/>
          <p:cNvSpPr/>
          <p:nvPr/>
        </p:nvSpPr>
        <p:spPr>
          <a:xfrm>
            <a:off x="640080" y="713232"/>
            <a:ext cx="10789920" cy="685800"/>
          </a:xfrm>
          <a:prstGeom prst="rect">
            <a:avLst/>
          </a:prstGeom>
          <a:noFill/>
          <a:ln/>
        </p:spPr>
        <p:txBody>
          <a:bodyPr wrap="square" lIns="0" tIns="0" rIns="0" bIns="0" rtlCol="0" anchor="ctr"/>
          <a:lstStyle/>
          <a:p>
            <a:pPr indent="0" marL="0">
              <a:buNone/>
            </a:pPr>
            <a:r>
              <a:rPr lang="en-US" sz="3000" b="1" dirty="0">
                <a:solidFill>
                  <a:srgbClr val="0F172A"/>
                </a:solidFill>
                <a:latin typeface="Segoe UI" pitchFamily="34" charset="0"/>
                <a:ea typeface="Segoe UI" pitchFamily="34" charset="-122"/>
                <a:cs typeface="Segoe UI" pitchFamily="34" charset="-120"/>
              </a:rPr>
              <a:t>Datos Disponibles, Decisiones Ciegas</a:t>
            </a:r>
            <a:endParaRPr lang="en-US" sz="3000" dirty="0"/>
          </a:p>
        </p:txBody>
      </p:sp>
      <p:sp>
        <p:nvSpPr>
          <p:cNvPr id="4" name="Shape 2"/>
          <p:cNvSpPr/>
          <p:nvPr/>
        </p:nvSpPr>
        <p:spPr>
          <a:xfrm>
            <a:off x="640080" y="1874520"/>
            <a:ext cx="566928" cy="566928"/>
          </a:xfrm>
          <a:prstGeom prst="ellipse">
            <a:avLst/>
          </a:prstGeom>
          <a:solidFill>
            <a:srgbClr val="0F172A"/>
          </a:solidFill>
          <a:ln/>
        </p:spPr>
      </p:sp>
      <p:pic>
        <p:nvPicPr>
          <p:cNvPr id="5" name="Image 0" descr="/home/claude/pptx-lienzo/icons/database.png">    </p:cNvPr>
          <p:cNvPicPr>
            <a:picLocks noChangeAspect="1"/>
          </p:cNvPicPr>
          <p:nvPr/>
        </p:nvPicPr>
        <p:blipFill>
          <a:blip r:embed="rId1"/>
          <a:stretch>
            <a:fillRect/>
          </a:stretch>
        </p:blipFill>
        <p:spPr>
          <a:xfrm>
            <a:off x="764804" y="1999244"/>
            <a:ext cx="317480" cy="317480"/>
          </a:xfrm>
          <a:prstGeom prst="rect">
            <a:avLst/>
          </a:prstGeom>
        </p:spPr>
      </p:pic>
      <p:sp>
        <p:nvSpPr>
          <p:cNvPr id="6" name="Text 3"/>
          <p:cNvSpPr/>
          <p:nvPr/>
        </p:nvSpPr>
        <p:spPr>
          <a:xfrm>
            <a:off x="1481328" y="1847088"/>
            <a:ext cx="4663440" cy="36576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Miles de conjuntos de datos</a:t>
            </a:r>
            <a:endParaRPr lang="en-US" sz="1600" dirty="0"/>
          </a:p>
        </p:txBody>
      </p:sp>
      <p:sp>
        <p:nvSpPr>
          <p:cNvPr id="7" name="Text 4"/>
          <p:cNvSpPr/>
          <p:nvPr/>
        </p:nvSpPr>
        <p:spPr>
          <a:xfrm>
            <a:off x="1481328" y="2203704"/>
            <a:ext cx="4709160" cy="822960"/>
          </a:xfrm>
          <a:prstGeom prst="rect">
            <a:avLst/>
          </a:prstGeom>
          <a:noFill/>
          <a:ln/>
        </p:spPr>
        <p:txBody>
          <a:bodyPr wrap="square" lIns="0" tIns="0" rIns="0" bIns="0" rtlCol="0" anchor="ctr"/>
          <a:lstStyle/>
          <a:p>
            <a:pPr indent="0" marL="0">
              <a:lnSpc>
                <a:spcPct val="115000"/>
              </a:lnSpc>
              <a:buNone/>
            </a:pPr>
            <a:r>
              <a:rPr lang="en-US" sz="1250" dirty="0">
                <a:solidFill>
                  <a:srgbClr val="64748B"/>
                </a:solidFill>
                <a:latin typeface="Segoe UI" pitchFamily="34" charset="0"/>
                <a:ea typeface="Segoe UI" pitchFamily="34" charset="-122"/>
                <a:cs typeface="Segoe UI" pitchFamily="34" charset="-120"/>
              </a:rPr>
              <a:t>Disponibles en el portal nacional, pero entregados en formato crudo — filas y columnas sin interpretar.</a:t>
            </a:r>
            <a:endParaRPr lang="en-US" sz="1250" dirty="0"/>
          </a:p>
        </p:txBody>
      </p:sp>
      <p:sp>
        <p:nvSpPr>
          <p:cNvPr id="8" name="Shape 5"/>
          <p:cNvSpPr/>
          <p:nvPr/>
        </p:nvSpPr>
        <p:spPr>
          <a:xfrm>
            <a:off x="640080" y="3291840"/>
            <a:ext cx="566928" cy="566928"/>
          </a:xfrm>
          <a:prstGeom prst="ellipse">
            <a:avLst/>
          </a:prstGeom>
          <a:solidFill>
            <a:srgbClr val="0F172A"/>
          </a:solidFill>
          <a:ln/>
        </p:spPr>
      </p:sp>
      <p:pic>
        <p:nvPicPr>
          <p:cNvPr id="9" name="Image 1" descr="/home/claude/pptx-lienzo/icons/help.png">    </p:cNvPr>
          <p:cNvPicPr>
            <a:picLocks noChangeAspect="1"/>
          </p:cNvPicPr>
          <p:nvPr/>
        </p:nvPicPr>
        <p:blipFill>
          <a:blip r:embed="rId2"/>
          <a:stretch>
            <a:fillRect/>
          </a:stretch>
        </p:blipFill>
        <p:spPr>
          <a:xfrm>
            <a:off x="764804" y="3416564"/>
            <a:ext cx="317480" cy="317480"/>
          </a:xfrm>
          <a:prstGeom prst="rect">
            <a:avLst/>
          </a:prstGeom>
        </p:spPr>
      </p:pic>
      <p:sp>
        <p:nvSpPr>
          <p:cNvPr id="10" name="Text 6"/>
          <p:cNvSpPr/>
          <p:nvPr/>
        </p:nvSpPr>
        <p:spPr>
          <a:xfrm>
            <a:off x="1481328" y="3264408"/>
            <a:ext cx="4663440" cy="36576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Barreras técnicas y de costo</a:t>
            </a:r>
            <a:endParaRPr lang="en-US" sz="1600" dirty="0"/>
          </a:p>
        </p:txBody>
      </p:sp>
      <p:sp>
        <p:nvSpPr>
          <p:cNvPr id="11" name="Text 7"/>
          <p:cNvSpPr/>
          <p:nvPr/>
        </p:nvSpPr>
        <p:spPr>
          <a:xfrm>
            <a:off x="1481328" y="3621024"/>
            <a:ext cx="4709160" cy="822960"/>
          </a:xfrm>
          <a:prstGeom prst="rect">
            <a:avLst/>
          </a:prstGeom>
          <a:noFill/>
          <a:ln/>
        </p:spPr>
        <p:txBody>
          <a:bodyPr wrap="square" lIns="0" tIns="0" rIns="0" bIns="0" rtlCol="0" anchor="ctr"/>
          <a:lstStyle/>
          <a:p>
            <a:pPr indent="0" marL="0">
              <a:lnSpc>
                <a:spcPct val="115000"/>
              </a:lnSpc>
              <a:buNone/>
            </a:pPr>
            <a:r>
              <a:rPr lang="en-US" sz="1250" dirty="0">
                <a:solidFill>
                  <a:srgbClr val="64748B"/>
                </a:solidFill>
                <a:latin typeface="Segoe UI" pitchFamily="34" charset="0"/>
                <a:ea typeface="Segoe UI" pitchFamily="34" charset="-122"/>
                <a:cs typeface="Segoe UI" pitchFamily="34" charset="-120"/>
              </a:rPr>
              <a:t>Analizarlos exige tiempo, licencias de software costosas y personal especializado en analítica.</a:t>
            </a:r>
            <a:endParaRPr lang="en-US" sz="1250" dirty="0"/>
          </a:p>
        </p:txBody>
      </p:sp>
      <p:sp>
        <p:nvSpPr>
          <p:cNvPr id="12" name="Shape 8"/>
          <p:cNvSpPr/>
          <p:nvPr/>
        </p:nvSpPr>
        <p:spPr>
          <a:xfrm>
            <a:off x="640080" y="4709160"/>
            <a:ext cx="566928" cy="566928"/>
          </a:xfrm>
          <a:prstGeom prst="ellipse">
            <a:avLst/>
          </a:prstGeom>
          <a:solidFill>
            <a:srgbClr val="0F172A"/>
          </a:solidFill>
          <a:ln/>
        </p:spPr>
      </p:sp>
      <p:pic>
        <p:nvPicPr>
          <p:cNvPr id="13" name="Image 2" descr="/home/claude/pptx-lienzo/icons/cloud.png">    </p:cNvPr>
          <p:cNvPicPr>
            <a:picLocks noChangeAspect="1"/>
          </p:cNvPicPr>
          <p:nvPr/>
        </p:nvPicPr>
        <p:blipFill>
          <a:blip r:embed="rId3"/>
          <a:stretch>
            <a:fillRect/>
          </a:stretch>
        </p:blipFill>
        <p:spPr>
          <a:xfrm>
            <a:off x="764804" y="4833884"/>
            <a:ext cx="317480" cy="317480"/>
          </a:xfrm>
          <a:prstGeom prst="rect">
            <a:avLst/>
          </a:prstGeom>
        </p:spPr>
      </p:pic>
      <p:sp>
        <p:nvSpPr>
          <p:cNvPr id="14" name="Text 9"/>
          <p:cNvSpPr/>
          <p:nvPr/>
        </p:nvSpPr>
        <p:spPr>
          <a:xfrm>
            <a:off x="1481328" y="4681728"/>
            <a:ext cx="4663440" cy="36576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Decisiones fuera de tiempo</a:t>
            </a:r>
            <a:endParaRPr lang="en-US" sz="1600" dirty="0"/>
          </a:p>
        </p:txBody>
      </p:sp>
      <p:sp>
        <p:nvSpPr>
          <p:cNvPr id="15" name="Text 10"/>
          <p:cNvSpPr/>
          <p:nvPr/>
        </p:nvSpPr>
        <p:spPr>
          <a:xfrm>
            <a:off x="1481328" y="5038344"/>
            <a:ext cx="4709160" cy="822960"/>
          </a:xfrm>
          <a:prstGeom prst="rect">
            <a:avLst/>
          </a:prstGeom>
          <a:noFill/>
          <a:ln/>
        </p:spPr>
        <p:txBody>
          <a:bodyPr wrap="square" lIns="0" tIns="0" rIns="0" bIns="0" rtlCol="0" anchor="ctr"/>
          <a:lstStyle/>
          <a:p>
            <a:pPr indent="0" marL="0">
              <a:lnSpc>
                <a:spcPct val="115000"/>
              </a:lnSpc>
              <a:buNone/>
            </a:pPr>
            <a:r>
              <a:rPr lang="en-US" sz="1250" dirty="0">
                <a:solidFill>
                  <a:srgbClr val="64748B"/>
                </a:solidFill>
                <a:latin typeface="Segoe UI" pitchFamily="34" charset="0"/>
                <a:ea typeface="Segoe UI" pitchFamily="34" charset="-122"/>
                <a:cs typeface="Segoe UI" pitchFamily="34" charset="-120"/>
              </a:rPr>
              <a:t>La información no llega a tiempo a las mesas donde se toman las decisiones de gobierno.</a:t>
            </a:r>
            <a:endParaRPr lang="en-US" sz="1250" dirty="0"/>
          </a:p>
        </p:txBody>
      </p:sp>
      <p:sp>
        <p:nvSpPr>
          <p:cNvPr id="16" name="Shape 11"/>
          <p:cNvSpPr/>
          <p:nvPr/>
        </p:nvSpPr>
        <p:spPr>
          <a:xfrm>
            <a:off x="6720840" y="1783080"/>
            <a:ext cx="4846320" cy="4160520"/>
          </a:xfrm>
          <a:prstGeom prst="roundRect">
            <a:avLst>
              <a:gd name="adj" fmla="val 2198"/>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7" name="Text 12"/>
          <p:cNvSpPr/>
          <p:nvPr/>
        </p:nvSpPr>
        <p:spPr>
          <a:xfrm>
            <a:off x="6995160" y="1984248"/>
            <a:ext cx="4297680" cy="274320"/>
          </a:xfrm>
          <a:prstGeom prst="rect">
            <a:avLst/>
          </a:prstGeom>
          <a:noFill/>
          <a:ln/>
        </p:spPr>
        <p:txBody>
          <a:bodyPr wrap="square" lIns="0" tIns="0" rIns="0" bIns="0"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dataset_morbilidad.csv</a:t>
            </a:r>
            <a:endParaRPr lang="en-US" sz="1100" dirty="0"/>
          </a:p>
        </p:txBody>
      </p:sp>
      <p:sp>
        <p:nvSpPr>
          <p:cNvPr id="18" name="Text 13"/>
          <p:cNvSpPr/>
          <p:nvPr/>
        </p:nvSpPr>
        <p:spPr>
          <a:xfrm>
            <a:off x="6995160" y="2258568"/>
            <a:ext cx="429768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12.480 filas · 18 columnas</a:t>
            </a:r>
            <a:endParaRPr lang="en-US" sz="1000" dirty="0"/>
          </a:p>
        </p:txBody>
      </p:sp>
      <p:sp>
        <p:nvSpPr>
          <p:cNvPr id="19" name="Shape 14"/>
          <p:cNvSpPr/>
          <p:nvPr/>
        </p:nvSpPr>
        <p:spPr>
          <a:xfrm>
            <a:off x="6995160" y="2743200"/>
            <a:ext cx="4297680" cy="10973"/>
          </a:xfrm>
          <a:prstGeom prst="rect">
            <a:avLst/>
          </a:prstGeom>
          <a:solidFill>
            <a:srgbClr val="E2E8F0"/>
          </a:solidFill>
          <a:ln/>
        </p:spPr>
      </p:sp>
      <p:sp>
        <p:nvSpPr>
          <p:cNvPr id="20" name="Shape 15"/>
          <p:cNvSpPr/>
          <p:nvPr/>
        </p:nvSpPr>
        <p:spPr>
          <a:xfrm>
            <a:off x="6995160" y="2788920"/>
            <a:ext cx="822960" cy="91440"/>
          </a:xfrm>
          <a:prstGeom prst="rect">
            <a:avLst>
              <a:gd name="adj" fmla="val 20000"/>
            </a:avLst>
          </a:prstGeom>
          <a:solidFill>
            <a:srgbClr val="0EA5E9"/>
          </a:solidFill>
          <a:ln/>
        </p:spPr>
      </p:sp>
      <p:sp>
        <p:nvSpPr>
          <p:cNvPr id="21" name="Shape 16"/>
          <p:cNvSpPr/>
          <p:nvPr/>
        </p:nvSpPr>
        <p:spPr>
          <a:xfrm>
            <a:off x="6995160" y="2967228"/>
            <a:ext cx="4297680" cy="10973"/>
          </a:xfrm>
          <a:prstGeom prst="rect">
            <a:avLst/>
          </a:prstGeom>
          <a:solidFill>
            <a:srgbClr val="E2E8F0"/>
          </a:solidFill>
          <a:ln/>
        </p:spPr>
      </p:sp>
      <p:sp>
        <p:nvSpPr>
          <p:cNvPr id="22" name="Shape 17"/>
          <p:cNvSpPr/>
          <p:nvPr/>
        </p:nvSpPr>
        <p:spPr>
          <a:xfrm>
            <a:off x="6995160" y="3012948"/>
            <a:ext cx="1188720" cy="91440"/>
          </a:xfrm>
          <a:prstGeom prst="rect">
            <a:avLst>
              <a:gd name="adj" fmla="val 20000"/>
            </a:avLst>
          </a:prstGeom>
          <a:solidFill>
            <a:srgbClr val="CBD5E1"/>
          </a:solidFill>
          <a:ln/>
        </p:spPr>
      </p:sp>
      <p:sp>
        <p:nvSpPr>
          <p:cNvPr id="23" name="Shape 18"/>
          <p:cNvSpPr/>
          <p:nvPr/>
        </p:nvSpPr>
        <p:spPr>
          <a:xfrm>
            <a:off x="6995160" y="3191256"/>
            <a:ext cx="4297680" cy="10973"/>
          </a:xfrm>
          <a:prstGeom prst="rect">
            <a:avLst/>
          </a:prstGeom>
          <a:solidFill>
            <a:srgbClr val="E2E8F0"/>
          </a:solidFill>
          <a:ln/>
        </p:spPr>
      </p:sp>
      <p:sp>
        <p:nvSpPr>
          <p:cNvPr id="24" name="Shape 19"/>
          <p:cNvSpPr/>
          <p:nvPr/>
        </p:nvSpPr>
        <p:spPr>
          <a:xfrm>
            <a:off x="6995160" y="3236976"/>
            <a:ext cx="640080" cy="91440"/>
          </a:xfrm>
          <a:prstGeom prst="rect">
            <a:avLst>
              <a:gd name="adj" fmla="val 20000"/>
            </a:avLst>
          </a:prstGeom>
          <a:solidFill>
            <a:srgbClr val="CBD5E1"/>
          </a:solidFill>
          <a:ln/>
        </p:spPr>
      </p:sp>
      <p:sp>
        <p:nvSpPr>
          <p:cNvPr id="25" name="Shape 20"/>
          <p:cNvSpPr/>
          <p:nvPr/>
        </p:nvSpPr>
        <p:spPr>
          <a:xfrm>
            <a:off x="6995160" y="3415284"/>
            <a:ext cx="4297680" cy="10973"/>
          </a:xfrm>
          <a:prstGeom prst="rect">
            <a:avLst/>
          </a:prstGeom>
          <a:solidFill>
            <a:srgbClr val="E2E8F0"/>
          </a:solidFill>
          <a:ln/>
        </p:spPr>
      </p:sp>
      <p:sp>
        <p:nvSpPr>
          <p:cNvPr id="26" name="Shape 21"/>
          <p:cNvSpPr/>
          <p:nvPr/>
        </p:nvSpPr>
        <p:spPr>
          <a:xfrm>
            <a:off x="6995160" y="3461004"/>
            <a:ext cx="1005840" cy="91440"/>
          </a:xfrm>
          <a:prstGeom prst="rect">
            <a:avLst>
              <a:gd name="adj" fmla="val 20000"/>
            </a:avLst>
          </a:prstGeom>
          <a:solidFill>
            <a:srgbClr val="CBD5E1"/>
          </a:solidFill>
          <a:ln/>
        </p:spPr>
      </p:sp>
      <p:sp>
        <p:nvSpPr>
          <p:cNvPr id="27" name="Shape 22"/>
          <p:cNvSpPr/>
          <p:nvPr/>
        </p:nvSpPr>
        <p:spPr>
          <a:xfrm>
            <a:off x="6995160" y="3639312"/>
            <a:ext cx="4297680" cy="10973"/>
          </a:xfrm>
          <a:prstGeom prst="rect">
            <a:avLst/>
          </a:prstGeom>
          <a:solidFill>
            <a:srgbClr val="E2E8F0"/>
          </a:solidFill>
          <a:ln/>
        </p:spPr>
      </p:sp>
      <p:sp>
        <p:nvSpPr>
          <p:cNvPr id="28" name="Shape 23"/>
          <p:cNvSpPr/>
          <p:nvPr/>
        </p:nvSpPr>
        <p:spPr>
          <a:xfrm>
            <a:off x="6995160" y="3685032"/>
            <a:ext cx="457200" cy="91440"/>
          </a:xfrm>
          <a:prstGeom prst="rect">
            <a:avLst>
              <a:gd name="adj" fmla="val 20000"/>
            </a:avLst>
          </a:prstGeom>
          <a:solidFill>
            <a:srgbClr val="0EA5E9"/>
          </a:solidFill>
          <a:ln/>
        </p:spPr>
      </p:sp>
      <p:sp>
        <p:nvSpPr>
          <p:cNvPr id="29" name="Shape 24"/>
          <p:cNvSpPr/>
          <p:nvPr/>
        </p:nvSpPr>
        <p:spPr>
          <a:xfrm>
            <a:off x="6995160" y="3863340"/>
            <a:ext cx="4297680" cy="10973"/>
          </a:xfrm>
          <a:prstGeom prst="rect">
            <a:avLst/>
          </a:prstGeom>
          <a:solidFill>
            <a:srgbClr val="E2E8F0"/>
          </a:solidFill>
          <a:ln/>
        </p:spPr>
      </p:sp>
      <p:sp>
        <p:nvSpPr>
          <p:cNvPr id="30" name="Shape 25"/>
          <p:cNvSpPr/>
          <p:nvPr/>
        </p:nvSpPr>
        <p:spPr>
          <a:xfrm>
            <a:off x="6995160" y="3909060"/>
            <a:ext cx="1280160" cy="91440"/>
          </a:xfrm>
          <a:prstGeom prst="rect">
            <a:avLst>
              <a:gd name="adj" fmla="val 20000"/>
            </a:avLst>
          </a:prstGeom>
          <a:solidFill>
            <a:srgbClr val="CBD5E1"/>
          </a:solidFill>
          <a:ln/>
        </p:spPr>
      </p:sp>
      <p:sp>
        <p:nvSpPr>
          <p:cNvPr id="31" name="Shape 26"/>
          <p:cNvSpPr/>
          <p:nvPr/>
        </p:nvSpPr>
        <p:spPr>
          <a:xfrm>
            <a:off x="6995160" y="4087368"/>
            <a:ext cx="4297680" cy="10973"/>
          </a:xfrm>
          <a:prstGeom prst="rect">
            <a:avLst/>
          </a:prstGeom>
          <a:solidFill>
            <a:srgbClr val="E2E8F0"/>
          </a:solidFill>
          <a:ln/>
        </p:spPr>
      </p:sp>
      <p:sp>
        <p:nvSpPr>
          <p:cNvPr id="32" name="Shape 27"/>
          <p:cNvSpPr/>
          <p:nvPr/>
        </p:nvSpPr>
        <p:spPr>
          <a:xfrm>
            <a:off x="6995160" y="4133088"/>
            <a:ext cx="777240" cy="91440"/>
          </a:xfrm>
          <a:prstGeom prst="rect">
            <a:avLst>
              <a:gd name="adj" fmla="val 20000"/>
            </a:avLst>
          </a:prstGeom>
          <a:solidFill>
            <a:srgbClr val="CBD5E1"/>
          </a:solidFill>
          <a:ln/>
        </p:spPr>
      </p:sp>
      <p:sp>
        <p:nvSpPr>
          <p:cNvPr id="33" name="Shape 28"/>
          <p:cNvSpPr/>
          <p:nvPr/>
        </p:nvSpPr>
        <p:spPr>
          <a:xfrm>
            <a:off x="6995160" y="4311396"/>
            <a:ext cx="4297680" cy="10973"/>
          </a:xfrm>
          <a:prstGeom prst="rect">
            <a:avLst/>
          </a:prstGeom>
          <a:solidFill>
            <a:srgbClr val="E2E8F0"/>
          </a:solidFill>
          <a:ln/>
        </p:spPr>
      </p:sp>
      <p:sp>
        <p:nvSpPr>
          <p:cNvPr id="34" name="Shape 29"/>
          <p:cNvSpPr/>
          <p:nvPr/>
        </p:nvSpPr>
        <p:spPr>
          <a:xfrm>
            <a:off x="6995160" y="4357116"/>
            <a:ext cx="1097280" cy="91440"/>
          </a:xfrm>
          <a:prstGeom prst="rect">
            <a:avLst>
              <a:gd name="adj" fmla="val 20000"/>
            </a:avLst>
          </a:prstGeom>
          <a:solidFill>
            <a:srgbClr val="CBD5E1"/>
          </a:solidFill>
          <a:ln/>
        </p:spPr>
      </p:sp>
      <p:sp>
        <p:nvSpPr>
          <p:cNvPr id="35" name="Shape 30"/>
          <p:cNvSpPr/>
          <p:nvPr/>
        </p:nvSpPr>
        <p:spPr>
          <a:xfrm>
            <a:off x="6995160" y="4535424"/>
            <a:ext cx="4297680" cy="10973"/>
          </a:xfrm>
          <a:prstGeom prst="rect">
            <a:avLst/>
          </a:prstGeom>
          <a:solidFill>
            <a:srgbClr val="E2E8F0"/>
          </a:solidFill>
          <a:ln/>
        </p:spPr>
      </p:sp>
      <p:sp>
        <p:nvSpPr>
          <p:cNvPr id="36" name="Shape 31"/>
          <p:cNvSpPr/>
          <p:nvPr/>
        </p:nvSpPr>
        <p:spPr>
          <a:xfrm>
            <a:off x="6995160" y="4581144"/>
            <a:ext cx="548640" cy="91440"/>
          </a:xfrm>
          <a:prstGeom prst="rect">
            <a:avLst>
              <a:gd name="adj" fmla="val 20000"/>
            </a:avLst>
          </a:prstGeom>
          <a:solidFill>
            <a:srgbClr val="0EA5E9"/>
          </a:solidFill>
          <a:ln/>
        </p:spPr>
      </p:sp>
      <p:sp>
        <p:nvSpPr>
          <p:cNvPr id="37" name="Shape 32"/>
          <p:cNvSpPr/>
          <p:nvPr/>
        </p:nvSpPr>
        <p:spPr>
          <a:xfrm>
            <a:off x="6995160" y="4759452"/>
            <a:ext cx="4297680" cy="10973"/>
          </a:xfrm>
          <a:prstGeom prst="rect">
            <a:avLst/>
          </a:prstGeom>
          <a:solidFill>
            <a:srgbClr val="E2E8F0"/>
          </a:solidFill>
          <a:ln/>
        </p:spPr>
      </p:sp>
      <p:sp>
        <p:nvSpPr>
          <p:cNvPr id="38" name="Shape 33"/>
          <p:cNvSpPr/>
          <p:nvPr/>
        </p:nvSpPr>
        <p:spPr>
          <a:xfrm>
            <a:off x="6995160" y="4805172"/>
            <a:ext cx="1234440" cy="91440"/>
          </a:xfrm>
          <a:prstGeom prst="rect">
            <a:avLst>
              <a:gd name="adj" fmla="val 20000"/>
            </a:avLst>
          </a:prstGeom>
          <a:solidFill>
            <a:srgbClr val="CBD5E1"/>
          </a:solidFill>
          <a:ln/>
        </p:spPr>
      </p:sp>
      <p:sp>
        <p:nvSpPr>
          <p:cNvPr id="39" name="Shape 34"/>
          <p:cNvSpPr/>
          <p:nvPr/>
        </p:nvSpPr>
        <p:spPr>
          <a:xfrm>
            <a:off x="6995160" y="4983480"/>
            <a:ext cx="4297680" cy="10973"/>
          </a:xfrm>
          <a:prstGeom prst="rect">
            <a:avLst/>
          </a:prstGeom>
          <a:solidFill>
            <a:srgbClr val="E2E8F0"/>
          </a:solidFill>
          <a:ln/>
        </p:spPr>
      </p:sp>
      <p:sp>
        <p:nvSpPr>
          <p:cNvPr id="40" name="Shape 35"/>
          <p:cNvSpPr/>
          <p:nvPr/>
        </p:nvSpPr>
        <p:spPr>
          <a:xfrm>
            <a:off x="6995160" y="5029200"/>
            <a:ext cx="685800" cy="91440"/>
          </a:xfrm>
          <a:prstGeom prst="rect">
            <a:avLst>
              <a:gd name="adj" fmla="val 20000"/>
            </a:avLst>
          </a:prstGeom>
          <a:solidFill>
            <a:srgbClr val="CBD5E1"/>
          </a:solidFill>
          <a:ln/>
        </p:spPr>
      </p:sp>
      <p:sp>
        <p:nvSpPr>
          <p:cNvPr id="41" name="Shape 36"/>
          <p:cNvSpPr/>
          <p:nvPr/>
        </p:nvSpPr>
        <p:spPr>
          <a:xfrm>
            <a:off x="6995160" y="5207508"/>
            <a:ext cx="4297680" cy="10973"/>
          </a:xfrm>
          <a:prstGeom prst="rect">
            <a:avLst/>
          </a:prstGeom>
          <a:solidFill>
            <a:srgbClr val="E2E8F0"/>
          </a:solidFill>
          <a:ln/>
        </p:spPr>
      </p:sp>
      <p:sp>
        <p:nvSpPr>
          <p:cNvPr id="42" name="Shape 37"/>
          <p:cNvSpPr/>
          <p:nvPr/>
        </p:nvSpPr>
        <p:spPr>
          <a:xfrm>
            <a:off x="6995160" y="5253228"/>
            <a:ext cx="914400" cy="91440"/>
          </a:xfrm>
          <a:prstGeom prst="rect">
            <a:avLst>
              <a:gd name="adj" fmla="val 20000"/>
            </a:avLst>
          </a:prstGeom>
          <a:solidFill>
            <a:srgbClr val="CBD5E1"/>
          </a:solidFill>
          <a:ln/>
        </p:spPr>
      </p:sp>
      <p:sp>
        <p:nvSpPr>
          <p:cNvPr id="43" name="Shape 38"/>
          <p:cNvSpPr/>
          <p:nvPr/>
        </p:nvSpPr>
        <p:spPr>
          <a:xfrm>
            <a:off x="6995160" y="5431536"/>
            <a:ext cx="4297680" cy="10973"/>
          </a:xfrm>
          <a:prstGeom prst="rect">
            <a:avLst/>
          </a:prstGeom>
          <a:solidFill>
            <a:srgbClr val="E2E8F0"/>
          </a:solidFill>
          <a:ln/>
        </p:spPr>
      </p:sp>
      <p:sp>
        <p:nvSpPr>
          <p:cNvPr id="44" name="Shape 39"/>
          <p:cNvSpPr/>
          <p:nvPr/>
        </p:nvSpPr>
        <p:spPr>
          <a:xfrm>
            <a:off x="6995160" y="5477256"/>
            <a:ext cx="868680" cy="91440"/>
          </a:xfrm>
          <a:prstGeom prst="rect">
            <a:avLst>
              <a:gd name="adj" fmla="val 20000"/>
            </a:avLst>
          </a:prstGeom>
          <a:solidFill>
            <a:srgbClr val="0EA5E9"/>
          </a:solidFill>
          <a:ln/>
        </p:spPr>
      </p:sp>
      <p:sp>
        <p:nvSpPr>
          <p:cNvPr id="45" name="Shape 40"/>
          <p:cNvSpPr/>
          <p:nvPr/>
        </p:nvSpPr>
        <p:spPr>
          <a:xfrm>
            <a:off x="6995160" y="5655564"/>
            <a:ext cx="4297680" cy="10973"/>
          </a:xfrm>
          <a:prstGeom prst="rect">
            <a:avLst/>
          </a:prstGeom>
          <a:solidFill>
            <a:srgbClr val="E2E8F0"/>
          </a:solidFill>
          <a:ln/>
        </p:spPr>
      </p:sp>
      <p:sp>
        <p:nvSpPr>
          <p:cNvPr id="46" name="Shape 41"/>
          <p:cNvSpPr/>
          <p:nvPr/>
        </p:nvSpPr>
        <p:spPr>
          <a:xfrm>
            <a:off x="6995160" y="5701284"/>
            <a:ext cx="1143000" cy="91440"/>
          </a:xfrm>
          <a:prstGeom prst="rect">
            <a:avLst>
              <a:gd name="adj" fmla="val 20000"/>
            </a:avLst>
          </a:prstGeom>
          <a:solidFill>
            <a:srgbClr val="CBD5E1"/>
          </a:solidFill>
          <a:ln/>
        </p:spPr>
      </p:sp>
      <p:sp>
        <p:nvSpPr>
          <p:cNvPr id="47" name="Shape 42"/>
          <p:cNvSpPr/>
          <p:nvPr/>
        </p:nvSpPr>
        <p:spPr>
          <a:xfrm>
            <a:off x="10789920" y="5166360"/>
            <a:ext cx="566928" cy="566928"/>
          </a:xfrm>
          <a:prstGeom prst="ellipse">
            <a:avLst/>
          </a:prstGeom>
          <a:solidFill>
            <a:srgbClr val="9333EA"/>
          </a:solidFill>
          <a:ln/>
        </p:spPr>
      </p:sp>
      <p:pic>
        <p:nvPicPr>
          <p:cNvPr id="48" name="Image 3" descr="/home/claude/pptx-lienzo/icons/help.png">    </p:cNvPr>
          <p:cNvPicPr>
            <a:picLocks noChangeAspect="1"/>
          </p:cNvPicPr>
          <p:nvPr/>
        </p:nvPicPr>
        <p:blipFill>
          <a:blip r:embed="rId4"/>
          <a:stretch>
            <a:fillRect/>
          </a:stretch>
        </p:blipFill>
        <p:spPr>
          <a:xfrm>
            <a:off x="10914644" y="5291084"/>
            <a:ext cx="317480" cy="317480"/>
          </a:xfrm>
          <a:prstGeom prst="rect">
            <a:avLst/>
          </a:prstGeom>
        </p:spPr>
      </p:pic>
      <p:sp>
        <p:nvSpPr>
          <p:cNvPr id="49" name="Text 43"/>
          <p:cNvSpPr/>
          <p:nvPr/>
        </p:nvSpPr>
        <p:spPr>
          <a:xfrm>
            <a:off x="640080" y="6419088"/>
            <a:ext cx="4572000" cy="274320"/>
          </a:xfrm>
          <a:prstGeom prst="rect">
            <a:avLst/>
          </a:prstGeom>
          <a:noFill/>
          <a:ln/>
        </p:spPr>
        <p:txBody>
          <a:bodyPr wrap="square" lIns="0" tIns="0" rIns="0" bIns="0" rtlCol="0" anchor="ctr"/>
          <a:lstStyle/>
          <a:p>
            <a:pPr indent="0" marL="0">
              <a:buNone/>
            </a:pPr>
            <a:r>
              <a:rPr lang="en-US" sz="950" spc="100" kern="0" dirty="0">
                <a:solidFill>
                  <a:srgbClr val="64748B"/>
                </a:solidFill>
                <a:latin typeface="Segoe UI" pitchFamily="34" charset="0"/>
                <a:ea typeface="Segoe UI" pitchFamily="34" charset="-122"/>
                <a:cs typeface="Segoe UI" pitchFamily="34" charset="-120"/>
              </a:rPr>
              <a:t>EL ROSAL · LIENZO EJECUTIVO</a:t>
            </a:r>
            <a:endParaRPr lang="en-US" sz="950" dirty="0"/>
          </a:p>
        </p:txBody>
      </p:sp>
      <p:sp>
        <p:nvSpPr>
          <p:cNvPr id="50" name="Text 44"/>
          <p:cNvSpPr/>
          <p:nvPr/>
        </p:nvSpPr>
        <p:spPr>
          <a:xfrm>
            <a:off x="11000232" y="6419088"/>
            <a:ext cx="914400" cy="274320"/>
          </a:xfrm>
          <a:prstGeom prst="rect">
            <a:avLst/>
          </a:prstGeom>
          <a:noFill/>
          <a:ln/>
        </p:spPr>
        <p:txBody>
          <a:bodyPr wrap="square" lIns="0" tIns="0" rIns="0" bIns="0" rtlCol="0" anchor="ctr"/>
          <a:lstStyle/>
          <a:p>
            <a:pPr algn="r" indent="0" marL="0">
              <a:buNone/>
            </a:pPr>
            <a:r>
              <a:rPr lang="en-US" sz="950" dirty="0">
                <a:solidFill>
                  <a:srgbClr val="64748B"/>
                </a:solidFill>
                <a:latin typeface="Segoe UI" pitchFamily="34" charset="0"/>
                <a:ea typeface="Segoe UI" pitchFamily="34" charset="-122"/>
                <a:cs typeface="Segoe UI" pitchFamily="34" charset="-120"/>
              </a:rPr>
              <a:t>02 / 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9333EA"/>
                </a:solidFill>
                <a:latin typeface="Segoe UI" pitchFamily="34" charset="0"/>
                <a:ea typeface="Segoe UI" pitchFamily="34" charset="-122"/>
                <a:cs typeface="Segoe UI" pitchFamily="34" charset="-120"/>
              </a:rPr>
              <a:t>INNOVACIÓN Y CREATIVIDAD · 15 PTS</a:t>
            </a:r>
            <a:endParaRPr lang="en-US" sz="1250" dirty="0"/>
          </a:p>
        </p:txBody>
      </p:sp>
      <p:sp>
        <p:nvSpPr>
          <p:cNvPr id="3" name="Text 1"/>
          <p:cNvSpPr/>
          <p:nvPr/>
        </p:nvSpPr>
        <p:spPr>
          <a:xfrm>
            <a:off x="640080" y="713232"/>
            <a:ext cx="10789920" cy="685800"/>
          </a:xfrm>
          <a:prstGeom prst="rect">
            <a:avLst/>
          </a:prstGeom>
          <a:noFill/>
          <a:ln/>
        </p:spPr>
        <p:txBody>
          <a:bodyPr wrap="square" lIns="0" tIns="0" rIns="0" bIns="0" rtlCol="0" anchor="ctr"/>
          <a:lstStyle/>
          <a:p>
            <a:pPr indent="0" marL="0">
              <a:buNone/>
            </a:pPr>
            <a:r>
              <a:rPr lang="en-US" sz="3000" b="1" dirty="0">
                <a:solidFill>
                  <a:srgbClr val="0F172A"/>
                </a:solidFill>
                <a:latin typeface="Segoe UI" pitchFamily="34" charset="0"/>
                <a:ea typeface="Segoe UI" pitchFamily="34" charset="-122"/>
                <a:cs typeface="Segoe UI" pitchFamily="34" charset="-120"/>
              </a:rPr>
              <a:t>Motor de Inteligencia Automatizada</a:t>
            </a:r>
            <a:endParaRPr lang="en-US" sz="3000" dirty="0"/>
          </a:p>
        </p:txBody>
      </p:sp>
      <p:sp>
        <p:nvSpPr>
          <p:cNvPr id="4" name="Shape 2"/>
          <p:cNvSpPr/>
          <p:nvPr/>
        </p:nvSpPr>
        <p:spPr>
          <a:xfrm>
            <a:off x="640080" y="1965960"/>
            <a:ext cx="566928" cy="566928"/>
          </a:xfrm>
          <a:prstGeom prst="ellipse">
            <a:avLst/>
          </a:prstGeom>
          <a:solidFill>
            <a:srgbClr val="9333EA"/>
          </a:solidFill>
          <a:ln/>
        </p:spPr>
      </p:sp>
      <p:pic>
        <p:nvPicPr>
          <p:cNvPr id="5" name="Image 0" descr="/home/claude/pptx-lienzo/icons/grid.png">    </p:cNvPr>
          <p:cNvPicPr>
            <a:picLocks noChangeAspect="1"/>
          </p:cNvPicPr>
          <p:nvPr/>
        </p:nvPicPr>
        <p:blipFill>
          <a:blip r:embed="rId1"/>
          <a:stretch>
            <a:fillRect/>
          </a:stretch>
        </p:blipFill>
        <p:spPr>
          <a:xfrm>
            <a:off x="764804" y="2090684"/>
            <a:ext cx="317480" cy="317480"/>
          </a:xfrm>
          <a:prstGeom prst="rect">
            <a:avLst/>
          </a:prstGeom>
        </p:spPr>
      </p:pic>
      <p:sp>
        <p:nvSpPr>
          <p:cNvPr id="6" name="Text 3"/>
          <p:cNvSpPr/>
          <p:nvPr/>
        </p:nvSpPr>
        <p:spPr>
          <a:xfrm>
            <a:off x="1481328" y="1938528"/>
            <a:ext cx="4663440" cy="36576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Cero código</a:t>
            </a:r>
            <a:endParaRPr lang="en-US" sz="1600" dirty="0"/>
          </a:p>
        </p:txBody>
      </p:sp>
      <p:sp>
        <p:nvSpPr>
          <p:cNvPr id="7" name="Text 4"/>
          <p:cNvSpPr/>
          <p:nvPr/>
        </p:nvSpPr>
        <p:spPr>
          <a:xfrm>
            <a:off x="1481328" y="2295144"/>
            <a:ext cx="4709160" cy="822960"/>
          </a:xfrm>
          <a:prstGeom prst="rect">
            <a:avLst/>
          </a:prstGeom>
          <a:noFill/>
          <a:ln/>
        </p:spPr>
        <p:txBody>
          <a:bodyPr wrap="square" lIns="0" tIns="0" rIns="0" bIns="0" rtlCol="0" anchor="ctr"/>
          <a:lstStyle/>
          <a:p>
            <a:pPr indent="0" marL="0">
              <a:lnSpc>
                <a:spcPct val="115000"/>
              </a:lnSpc>
              <a:buNone/>
            </a:pPr>
            <a:r>
              <a:rPr lang="en-US" sz="1250" dirty="0">
                <a:solidFill>
                  <a:srgbClr val="64748B"/>
                </a:solidFill>
                <a:latin typeface="Segoe UI" pitchFamily="34" charset="0"/>
                <a:ea typeface="Segoe UI" pitchFamily="34" charset="-122"/>
                <a:cs typeface="Segoe UI" pitchFamily="34" charset="-120"/>
              </a:rPr>
              <a:t>Carga datos desde la API de datos.gov.co o un archivo local — sin instalar nada.</a:t>
            </a:r>
            <a:endParaRPr lang="en-US" sz="1250" dirty="0"/>
          </a:p>
        </p:txBody>
      </p:sp>
      <p:sp>
        <p:nvSpPr>
          <p:cNvPr id="8" name="Shape 5"/>
          <p:cNvSpPr/>
          <p:nvPr/>
        </p:nvSpPr>
        <p:spPr>
          <a:xfrm>
            <a:off x="640080" y="3337560"/>
            <a:ext cx="566928" cy="566928"/>
          </a:xfrm>
          <a:prstGeom prst="ellipse">
            <a:avLst/>
          </a:prstGeom>
          <a:solidFill>
            <a:srgbClr val="9333EA"/>
          </a:solidFill>
          <a:ln/>
        </p:spPr>
      </p:sp>
      <p:pic>
        <p:nvPicPr>
          <p:cNvPr id="9" name="Image 1" descr="/home/claude/pptx-lienzo/icons/cpu.png">    </p:cNvPr>
          <p:cNvPicPr>
            <a:picLocks noChangeAspect="1"/>
          </p:cNvPicPr>
          <p:nvPr/>
        </p:nvPicPr>
        <p:blipFill>
          <a:blip r:embed="rId2"/>
          <a:stretch>
            <a:fillRect/>
          </a:stretch>
        </p:blipFill>
        <p:spPr>
          <a:xfrm>
            <a:off x="764804" y="3462284"/>
            <a:ext cx="317480" cy="317480"/>
          </a:xfrm>
          <a:prstGeom prst="rect">
            <a:avLst/>
          </a:prstGeom>
        </p:spPr>
      </p:pic>
      <p:sp>
        <p:nvSpPr>
          <p:cNvPr id="10" name="Text 6"/>
          <p:cNvSpPr/>
          <p:nvPr/>
        </p:nvSpPr>
        <p:spPr>
          <a:xfrm>
            <a:off x="1481328" y="3310128"/>
            <a:ext cx="4663440" cy="36576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Perfilamiento automático</a:t>
            </a:r>
            <a:endParaRPr lang="en-US" sz="1600" dirty="0"/>
          </a:p>
        </p:txBody>
      </p:sp>
      <p:sp>
        <p:nvSpPr>
          <p:cNvPr id="11" name="Text 7"/>
          <p:cNvSpPr/>
          <p:nvPr/>
        </p:nvSpPr>
        <p:spPr>
          <a:xfrm>
            <a:off x="1481328" y="3666744"/>
            <a:ext cx="4709160" cy="822960"/>
          </a:xfrm>
          <a:prstGeom prst="rect">
            <a:avLst/>
          </a:prstGeom>
          <a:noFill/>
          <a:ln/>
        </p:spPr>
        <p:txBody>
          <a:bodyPr wrap="square" lIns="0" tIns="0" rIns="0" bIns="0" rtlCol="0" anchor="ctr"/>
          <a:lstStyle/>
          <a:p>
            <a:pPr indent="0" marL="0">
              <a:lnSpc>
                <a:spcPct val="115000"/>
              </a:lnSpc>
              <a:buNone/>
            </a:pPr>
            <a:r>
              <a:rPr lang="en-US" sz="1250" dirty="0">
                <a:solidFill>
                  <a:srgbClr val="64748B"/>
                </a:solidFill>
                <a:latin typeface="Segoe UI" pitchFamily="34" charset="0"/>
                <a:ea typeface="Segoe UI" pitchFamily="34" charset="-122"/>
                <a:cs typeface="Segoe UI" pitchFamily="34" charset="-120"/>
              </a:rPr>
              <a:t>La IA clasifica cada columna en fechas, categorías y medidas antes de que el usuario mueva un dedo.</a:t>
            </a:r>
            <a:endParaRPr lang="en-US" sz="1250" dirty="0"/>
          </a:p>
        </p:txBody>
      </p:sp>
      <p:sp>
        <p:nvSpPr>
          <p:cNvPr id="12" name="Shape 8"/>
          <p:cNvSpPr/>
          <p:nvPr/>
        </p:nvSpPr>
        <p:spPr>
          <a:xfrm>
            <a:off x="640080" y="4709160"/>
            <a:ext cx="566928" cy="566928"/>
          </a:xfrm>
          <a:prstGeom prst="ellipse">
            <a:avLst/>
          </a:prstGeom>
          <a:solidFill>
            <a:srgbClr val="9333EA"/>
          </a:solidFill>
          <a:ln/>
        </p:spPr>
      </p:sp>
      <p:pic>
        <p:nvPicPr>
          <p:cNvPr id="13" name="Image 2" descr="/home/claude/pptx-lienzo/icons/file.png">    </p:cNvPr>
          <p:cNvPicPr>
            <a:picLocks noChangeAspect="1"/>
          </p:cNvPicPr>
          <p:nvPr/>
        </p:nvPicPr>
        <p:blipFill>
          <a:blip r:embed="rId3"/>
          <a:stretch>
            <a:fillRect/>
          </a:stretch>
        </p:blipFill>
        <p:spPr>
          <a:xfrm>
            <a:off x="764804" y="4833884"/>
            <a:ext cx="317480" cy="317480"/>
          </a:xfrm>
          <a:prstGeom prst="rect">
            <a:avLst/>
          </a:prstGeom>
        </p:spPr>
      </p:pic>
      <p:sp>
        <p:nvSpPr>
          <p:cNvPr id="14" name="Text 9"/>
          <p:cNvSpPr/>
          <p:nvPr/>
        </p:nvSpPr>
        <p:spPr>
          <a:xfrm>
            <a:off x="1481328" y="4681728"/>
            <a:ext cx="4663440" cy="36576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Lienzo ejecutivo en 1 minuto</a:t>
            </a:r>
            <a:endParaRPr lang="en-US" sz="1600" dirty="0"/>
          </a:p>
        </p:txBody>
      </p:sp>
      <p:sp>
        <p:nvSpPr>
          <p:cNvPr id="15" name="Text 10"/>
          <p:cNvSpPr/>
          <p:nvPr/>
        </p:nvSpPr>
        <p:spPr>
          <a:xfrm>
            <a:off x="1481328" y="5038344"/>
            <a:ext cx="4709160" cy="822960"/>
          </a:xfrm>
          <a:prstGeom prst="rect">
            <a:avLst/>
          </a:prstGeom>
          <a:noFill/>
          <a:ln/>
        </p:spPr>
        <p:txBody>
          <a:bodyPr wrap="square" lIns="0" tIns="0" rIns="0" bIns="0" rtlCol="0" anchor="ctr"/>
          <a:lstStyle/>
          <a:p>
            <a:pPr indent="0" marL="0">
              <a:lnSpc>
                <a:spcPct val="115000"/>
              </a:lnSpc>
              <a:buNone/>
            </a:pPr>
            <a:r>
              <a:rPr lang="en-US" sz="1250" dirty="0">
                <a:solidFill>
                  <a:srgbClr val="64748B"/>
                </a:solidFill>
                <a:latin typeface="Segoe UI" pitchFamily="34" charset="0"/>
                <a:ea typeface="Segoe UI" pitchFamily="34" charset="-122"/>
                <a:cs typeface="Segoe UI" pitchFamily="34" charset="-120"/>
              </a:rPr>
              <a:t>Genera un panel listo para imprimir, de tabla cruda a informe de gestión.</a:t>
            </a:r>
            <a:endParaRPr lang="en-US" sz="1250" dirty="0"/>
          </a:p>
        </p:txBody>
      </p:sp>
      <p:sp>
        <p:nvSpPr>
          <p:cNvPr id="16" name="Shape 11"/>
          <p:cNvSpPr/>
          <p:nvPr/>
        </p:nvSpPr>
        <p:spPr>
          <a:xfrm>
            <a:off x="6720840" y="2103120"/>
            <a:ext cx="4846320" cy="960120"/>
          </a:xfrm>
          <a:prstGeom prst="roundRect">
            <a:avLst>
              <a:gd name="adj" fmla="val 9524"/>
            </a:avLst>
          </a:prstGeom>
          <a:solidFill>
            <a:srgbClr val="FFFFFF"/>
          </a:solidFill>
          <a:ln w="12700">
            <a:solidFill>
              <a:srgbClr val="E2E8F0"/>
            </a:solidFill>
            <a:prstDash val="solid"/>
          </a:ln>
          <a:effectLst>
            <a:outerShdw sx="100000" sy="100000" kx="0" ky="0" algn="bl" rotWithShape="0" blurRad="127000" dist="25400" dir="5400000">
              <a:srgbClr val="0F172A">
                <a:alpha val="10000"/>
              </a:srgbClr>
            </a:outerShdw>
          </a:effectLst>
        </p:spPr>
      </p:sp>
      <p:sp>
        <p:nvSpPr>
          <p:cNvPr id="17" name="Shape 12"/>
          <p:cNvSpPr/>
          <p:nvPr/>
        </p:nvSpPr>
        <p:spPr>
          <a:xfrm>
            <a:off x="6949440" y="2286000"/>
            <a:ext cx="566928" cy="566928"/>
          </a:xfrm>
          <a:prstGeom prst="ellipse">
            <a:avLst/>
          </a:prstGeom>
          <a:solidFill>
            <a:srgbClr val="0F172A"/>
          </a:solidFill>
          <a:ln/>
        </p:spPr>
      </p:sp>
      <p:pic>
        <p:nvPicPr>
          <p:cNvPr id="18" name="Image 3" descr="/home/claude/pptx-lienzo/icons/database.png">    </p:cNvPr>
          <p:cNvPicPr>
            <a:picLocks noChangeAspect="1"/>
          </p:cNvPicPr>
          <p:nvPr/>
        </p:nvPicPr>
        <p:blipFill>
          <a:blip r:embed="rId4"/>
          <a:stretch>
            <a:fillRect/>
          </a:stretch>
        </p:blipFill>
        <p:spPr>
          <a:xfrm>
            <a:off x="7074164" y="2410724"/>
            <a:ext cx="317480" cy="317480"/>
          </a:xfrm>
          <a:prstGeom prst="rect">
            <a:avLst/>
          </a:prstGeom>
        </p:spPr>
      </p:pic>
      <p:sp>
        <p:nvSpPr>
          <p:cNvPr id="19" name="Text 13"/>
          <p:cNvSpPr/>
          <p:nvPr/>
        </p:nvSpPr>
        <p:spPr>
          <a:xfrm>
            <a:off x="7680960" y="2395728"/>
            <a:ext cx="3657600" cy="365760"/>
          </a:xfrm>
          <a:prstGeom prst="rect">
            <a:avLst/>
          </a:prstGeom>
          <a:noFill/>
          <a:ln/>
        </p:spPr>
        <p:txBody>
          <a:bodyPr wrap="square" lIns="0" tIns="0" rIns="0" bIns="0" rtlCol="0" anchor="ctr"/>
          <a:lstStyle/>
          <a:p>
            <a:pPr indent="0" marL="0">
              <a:buNone/>
            </a:pPr>
            <a:r>
              <a:rPr lang="en-US" sz="1450" b="1" dirty="0">
                <a:solidFill>
                  <a:srgbClr val="0F172A"/>
                </a:solidFill>
                <a:latin typeface="Segoe UI" pitchFamily="34" charset="0"/>
                <a:ea typeface="Segoe UI" pitchFamily="34" charset="-122"/>
                <a:cs typeface="Segoe UI" pitchFamily="34" charset="-120"/>
              </a:rPr>
              <a:t>datos.gov.co / CSV</a:t>
            </a:r>
            <a:endParaRPr lang="en-US" sz="1450" dirty="0"/>
          </a:p>
        </p:txBody>
      </p:sp>
      <p:sp>
        <p:nvSpPr>
          <p:cNvPr id="20" name="Shape 14"/>
          <p:cNvSpPr/>
          <p:nvPr/>
        </p:nvSpPr>
        <p:spPr>
          <a:xfrm>
            <a:off x="9015984" y="3090672"/>
            <a:ext cx="256032" cy="292608"/>
          </a:xfrm>
          <a:prstGeom prst="downArrow">
            <a:avLst/>
          </a:prstGeom>
          <a:solidFill>
            <a:srgbClr val="64748B"/>
          </a:solidFill>
          <a:ln/>
        </p:spPr>
      </p:sp>
      <p:sp>
        <p:nvSpPr>
          <p:cNvPr id="21" name="Shape 15"/>
          <p:cNvSpPr/>
          <p:nvPr/>
        </p:nvSpPr>
        <p:spPr>
          <a:xfrm>
            <a:off x="6720840" y="3383280"/>
            <a:ext cx="4846320" cy="960120"/>
          </a:xfrm>
          <a:prstGeom prst="roundRect">
            <a:avLst>
              <a:gd name="adj" fmla="val 9524"/>
            </a:avLst>
          </a:prstGeom>
          <a:solidFill>
            <a:srgbClr val="FFFFFF"/>
          </a:solidFill>
          <a:ln w="12700">
            <a:solidFill>
              <a:srgbClr val="E2E8F0"/>
            </a:solidFill>
            <a:prstDash val="solid"/>
          </a:ln>
          <a:effectLst>
            <a:outerShdw sx="100000" sy="100000" kx="0" ky="0" algn="bl" rotWithShape="0" blurRad="127000" dist="25400" dir="5400000">
              <a:srgbClr val="0F172A">
                <a:alpha val="10000"/>
              </a:srgbClr>
            </a:outerShdw>
          </a:effectLst>
        </p:spPr>
      </p:sp>
      <p:sp>
        <p:nvSpPr>
          <p:cNvPr id="22" name="Shape 16"/>
          <p:cNvSpPr/>
          <p:nvPr/>
        </p:nvSpPr>
        <p:spPr>
          <a:xfrm>
            <a:off x="6949440" y="3566160"/>
            <a:ext cx="566928" cy="566928"/>
          </a:xfrm>
          <a:prstGeom prst="ellipse">
            <a:avLst/>
          </a:prstGeom>
          <a:solidFill>
            <a:srgbClr val="9333EA"/>
          </a:solidFill>
          <a:ln/>
        </p:spPr>
      </p:sp>
      <p:pic>
        <p:nvPicPr>
          <p:cNvPr id="23" name="Image 4" descr="/home/claude/pptx-lienzo/icons/cpu.png">    </p:cNvPr>
          <p:cNvPicPr>
            <a:picLocks noChangeAspect="1"/>
          </p:cNvPicPr>
          <p:nvPr/>
        </p:nvPicPr>
        <p:blipFill>
          <a:blip r:embed="rId5"/>
          <a:stretch>
            <a:fillRect/>
          </a:stretch>
        </p:blipFill>
        <p:spPr>
          <a:xfrm>
            <a:off x="7074164" y="3690884"/>
            <a:ext cx="317480" cy="317480"/>
          </a:xfrm>
          <a:prstGeom prst="rect">
            <a:avLst/>
          </a:prstGeom>
        </p:spPr>
      </p:pic>
      <p:sp>
        <p:nvSpPr>
          <p:cNvPr id="24" name="Text 17"/>
          <p:cNvSpPr/>
          <p:nvPr/>
        </p:nvSpPr>
        <p:spPr>
          <a:xfrm>
            <a:off x="7680960" y="3675888"/>
            <a:ext cx="3657600" cy="365760"/>
          </a:xfrm>
          <a:prstGeom prst="rect">
            <a:avLst/>
          </a:prstGeom>
          <a:noFill/>
          <a:ln/>
        </p:spPr>
        <p:txBody>
          <a:bodyPr wrap="square" lIns="0" tIns="0" rIns="0" bIns="0" rtlCol="0" anchor="ctr"/>
          <a:lstStyle/>
          <a:p>
            <a:pPr indent="0" marL="0">
              <a:buNone/>
            </a:pPr>
            <a:r>
              <a:rPr lang="en-US" sz="1450" b="1" dirty="0">
                <a:solidFill>
                  <a:srgbClr val="0F172A"/>
                </a:solidFill>
                <a:latin typeface="Segoe UI" pitchFamily="34" charset="0"/>
                <a:ea typeface="Segoe UI" pitchFamily="34" charset="-122"/>
                <a:cs typeface="Segoe UI" pitchFamily="34" charset="-120"/>
              </a:rPr>
              <a:t>Motor de IA</a:t>
            </a:r>
            <a:endParaRPr lang="en-US" sz="1450" dirty="0"/>
          </a:p>
        </p:txBody>
      </p:sp>
      <p:sp>
        <p:nvSpPr>
          <p:cNvPr id="25" name="Shape 18"/>
          <p:cNvSpPr/>
          <p:nvPr/>
        </p:nvSpPr>
        <p:spPr>
          <a:xfrm>
            <a:off x="9015984" y="4370832"/>
            <a:ext cx="256032" cy="292608"/>
          </a:xfrm>
          <a:prstGeom prst="downArrow">
            <a:avLst/>
          </a:prstGeom>
          <a:solidFill>
            <a:srgbClr val="64748B"/>
          </a:solidFill>
          <a:ln/>
        </p:spPr>
      </p:sp>
      <p:sp>
        <p:nvSpPr>
          <p:cNvPr id="26" name="Shape 19"/>
          <p:cNvSpPr/>
          <p:nvPr/>
        </p:nvSpPr>
        <p:spPr>
          <a:xfrm>
            <a:off x="6720840" y="4663440"/>
            <a:ext cx="4846320" cy="960120"/>
          </a:xfrm>
          <a:prstGeom prst="roundRect">
            <a:avLst>
              <a:gd name="adj" fmla="val 9524"/>
            </a:avLst>
          </a:prstGeom>
          <a:solidFill>
            <a:srgbClr val="FFFFFF"/>
          </a:solidFill>
          <a:ln w="12700">
            <a:solidFill>
              <a:srgbClr val="E2E8F0"/>
            </a:solidFill>
            <a:prstDash val="solid"/>
          </a:ln>
          <a:effectLst>
            <a:outerShdw sx="100000" sy="100000" kx="0" ky="0" algn="bl" rotWithShape="0" blurRad="127000" dist="25400" dir="5400000">
              <a:srgbClr val="0F172A">
                <a:alpha val="10000"/>
              </a:srgbClr>
            </a:outerShdw>
          </a:effectLst>
        </p:spPr>
      </p:sp>
      <p:sp>
        <p:nvSpPr>
          <p:cNvPr id="27" name="Shape 20"/>
          <p:cNvSpPr/>
          <p:nvPr/>
        </p:nvSpPr>
        <p:spPr>
          <a:xfrm>
            <a:off x="6949440" y="4846320"/>
            <a:ext cx="566928" cy="566928"/>
          </a:xfrm>
          <a:prstGeom prst="ellipse">
            <a:avLst/>
          </a:prstGeom>
          <a:solidFill>
            <a:srgbClr val="0EA5E9"/>
          </a:solidFill>
          <a:ln/>
        </p:spPr>
      </p:sp>
      <p:pic>
        <p:nvPicPr>
          <p:cNvPr id="28" name="Image 5" descr="/home/claude/pptx-lienzo/icons/file.png">    </p:cNvPr>
          <p:cNvPicPr>
            <a:picLocks noChangeAspect="1"/>
          </p:cNvPicPr>
          <p:nvPr/>
        </p:nvPicPr>
        <p:blipFill>
          <a:blip r:embed="rId6"/>
          <a:stretch>
            <a:fillRect/>
          </a:stretch>
        </p:blipFill>
        <p:spPr>
          <a:xfrm>
            <a:off x="7074164" y="4971044"/>
            <a:ext cx="317480" cy="317480"/>
          </a:xfrm>
          <a:prstGeom prst="rect">
            <a:avLst/>
          </a:prstGeom>
        </p:spPr>
      </p:pic>
      <p:sp>
        <p:nvSpPr>
          <p:cNvPr id="29" name="Text 21"/>
          <p:cNvSpPr/>
          <p:nvPr/>
        </p:nvSpPr>
        <p:spPr>
          <a:xfrm>
            <a:off x="7680960" y="4956048"/>
            <a:ext cx="3657600" cy="365760"/>
          </a:xfrm>
          <a:prstGeom prst="rect">
            <a:avLst/>
          </a:prstGeom>
          <a:noFill/>
          <a:ln/>
        </p:spPr>
        <p:txBody>
          <a:bodyPr wrap="square" lIns="0" tIns="0" rIns="0" bIns="0" rtlCol="0" anchor="ctr"/>
          <a:lstStyle/>
          <a:p>
            <a:pPr indent="0" marL="0">
              <a:buNone/>
            </a:pPr>
            <a:r>
              <a:rPr lang="en-US" sz="1450" b="1" dirty="0">
                <a:solidFill>
                  <a:srgbClr val="0F172A"/>
                </a:solidFill>
                <a:latin typeface="Segoe UI" pitchFamily="34" charset="0"/>
                <a:ea typeface="Segoe UI" pitchFamily="34" charset="-122"/>
                <a:cs typeface="Segoe UI" pitchFamily="34" charset="-120"/>
              </a:rPr>
              <a:t>Lienzo Ejecutivo / PDF</a:t>
            </a:r>
            <a:endParaRPr lang="en-US" sz="1450" dirty="0"/>
          </a:p>
        </p:txBody>
      </p:sp>
      <p:sp>
        <p:nvSpPr>
          <p:cNvPr id="30" name="Text 22"/>
          <p:cNvSpPr/>
          <p:nvPr/>
        </p:nvSpPr>
        <p:spPr>
          <a:xfrm>
            <a:off x="640080" y="6419088"/>
            <a:ext cx="4572000" cy="274320"/>
          </a:xfrm>
          <a:prstGeom prst="rect">
            <a:avLst/>
          </a:prstGeom>
          <a:noFill/>
          <a:ln/>
        </p:spPr>
        <p:txBody>
          <a:bodyPr wrap="square" lIns="0" tIns="0" rIns="0" bIns="0" rtlCol="0" anchor="ctr"/>
          <a:lstStyle/>
          <a:p>
            <a:pPr indent="0" marL="0">
              <a:buNone/>
            </a:pPr>
            <a:r>
              <a:rPr lang="en-US" sz="950" spc="100" kern="0" dirty="0">
                <a:solidFill>
                  <a:srgbClr val="64748B"/>
                </a:solidFill>
                <a:latin typeface="Segoe UI" pitchFamily="34" charset="0"/>
                <a:ea typeface="Segoe UI" pitchFamily="34" charset="-122"/>
                <a:cs typeface="Segoe UI" pitchFamily="34" charset="-120"/>
              </a:rPr>
              <a:t>EL ROSAL · LIENZO EJECUTIVO</a:t>
            </a:r>
            <a:endParaRPr lang="en-US" sz="950" dirty="0"/>
          </a:p>
        </p:txBody>
      </p:sp>
      <p:sp>
        <p:nvSpPr>
          <p:cNvPr id="31" name="Text 23"/>
          <p:cNvSpPr/>
          <p:nvPr/>
        </p:nvSpPr>
        <p:spPr>
          <a:xfrm>
            <a:off x="11000232" y="6419088"/>
            <a:ext cx="914400" cy="274320"/>
          </a:xfrm>
          <a:prstGeom prst="rect">
            <a:avLst/>
          </a:prstGeom>
          <a:noFill/>
          <a:ln/>
        </p:spPr>
        <p:txBody>
          <a:bodyPr wrap="square" lIns="0" tIns="0" rIns="0" bIns="0" rtlCol="0" anchor="ctr"/>
          <a:lstStyle/>
          <a:p>
            <a:pPr algn="r" indent="0" marL="0">
              <a:buNone/>
            </a:pPr>
            <a:r>
              <a:rPr lang="en-US" sz="950" dirty="0">
                <a:solidFill>
                  <a:srgbClr val="64748B"/>
                </a:solidFill>
                <a:latin typeface="Segoe UI" pitchFamily="34" charset="0"/>
                <a:ea typeface="Segoe UI" pitchFamily="34" charset="-122"/>
                <a:cs typeface="Segoe UI" pitchFamily="34" charset="-120"/>
              </a:rPr>
              <a:t>03 / 10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A5E9"/>
                </a:solidFill>
                <a:latin typeface="Segoe UI" pitchFamily="34" charset="0"/>
                <a:ea typeface="Segoe UI" pitchFamily="34" charset="-122"/>
                <a:cs typeface="Segoe UI" pitchFamily="34" charset="-120"/>
              </a:rPr>
              <a:t>USO DE DATOS ABIERTOS · 20 PTS</a:t>
            </a:r>
            <a:endParaRPr lang="en-US" sz="1250" dirty="0"/>
          </a:p>
        </p:txBody>
      </p:sp>
      <p:sp>
        <p:nvSpPr>
          <p:cNvPr id="3" name="Text 1"/>
          <p:cNvSpPr/>
          <p:nvPr/>
        </p:nvSpPr>
        <p:spPr>
          <a:xfrm>
            <a:off x="640080" y="713232"/>
            <a:ext cx="10881360" cy="685800"/>
          </a:xfrm>
          <a:prstGeom prst="rect">
            <a:avLst/>
          </a:prstGeom>
          <a:noFill/>
          <a:ln/>
        </p:spPr>
        <p:txBody>
          <a:bodyPr wrap="square" lIns="0" tIns="0" rIns="0" bIns="0" rtlCol="0" anchor="ctr"/>
          <a:lstStyle/>
          <a:p>
            <a:pPr indent="0" marL="0">
              <a:buNone/>
            </a:pPr>
            <a:r>
              <a:rPr lang="en-US" sz="2700" b="1" dirty="0">
                <a:solidFill>
                  <a:srgbClr val="0F172A"/>
                </a:solidFill>
                <a:latin typeface="Segoe UI" pitchFamily="34" charset="0"/>
                <a:ea typeface="Segoe UI" pitchFamily="34" charset="-122"/>
                <a:cs typeface="Segoe UI" pitchFamily="34" charset="-120"/>
              </a:rPr>
              <a:t>Integración Profunda con el Ecosistema Nacional</a:t>
            </a:r>
            <a:endParaRPr lang="en-US" sz="2700" dirty="0"/>
          </a:p>
        </p:txBody>
      </p:sp>
      <p:sp>
        <p:nvSpPr>
          <p:cNvPr id="4" name="Shape 2"/>
          <p:cNvSpPr/>
          <p:nvPr/>
        </p:nvSpPr>
        <p:spPr>
          <a:xfrm>
            <a:off x="640080" y="1783080"/>
            <a:ext cx="512064" cy="512064"/>
          </a:xfrm>
          <a:prstGeom prst="ellipse">
            <a:avLst/>
          </a:prstGeom>
          <a:solidFill>
            <a:srgbClr val="0EA5E9"/>
          </a:solidFill>
          <a:ln/>
        </p:spPr>
      </p:sp>
      <p:pic>
        <p:nvPicPr>
          <p:cNvPr id="5" name="Image 0" descr="/home/claude/pptx-lienzo/icons/link.png">    </p:cNvPr>
          <p:cNvPicPr>
            <a:picLocks noChangeAspect="1"/>
          </p:cNvPicPr>
          <p:nvPr/>
        </p:nvPicPr>
        <p:blipFill>
          <a:blip r:embed="rId1"/>
          <a:stretch>
            <a:fillRect/>
          </a:stretch>
        </p:blipFill>
        <p:spPr>
          <a:xfrm>
            <a:off x="755294" y="1898294"/>
            <a:ext cx="281635" cy="281635"/>
          </a:xfrm>
          <a:prstGeom prst="rect">
            <a:avLst/>
          </a:prstGeom>
        </p:spPr>
      </p:pic>
      <p:sp>
        <p:nvSpPr>
          <p:cNvPr id="6" name="Text 3"/>
          <p:cNvSpPr/>
          <p:nvPr/>
        </p:nvSpPr>
        <p:spPr>
          <a:xfrm>
            <a:off x="1371600" y="1737360"/>
            <a:ext cx="4754880" cy="320040"/>
          </a:xfrm>
          <a:prstGeom prst="rect">
            <a:avLst/>
          </a:prstGeom>
          <a:noFill/>
          <a:ln/>
        </p:spPr>
        <p:txBody>
          <a:bodyPr wrap="square" lIns="0" tIns="0" rIns="0" bIns="0" rtlCol="0" anchor="ctr"/>
          <a:lstStyle/>
          <a:p>
            <a:pPr indent="0" marL="0">
              <a:buNone/>
            </a:pPr>
            <a:r>
              <a:rPr lang="en-US" sz="1450" b="1" dirty="0">
                <a:solidFill>
                  <a:srgbClr val="0F172A"/>
                </a:solidFill>
                <a:latin typeface="Segoe UI" pitchFamily="34" charset="0"/>
                <a:ea typeface="Segoe UI" pitchFamily="34" charset="-122"/>
                <a:cs typeface="Segoe UI" pitchFamily="34" charset="-120"/>
              </a:rPr>
              <a:t>Conexión directa a la API Socrata</a:t>
            </a:r>
            <a:endParaRPr lang="en-US" sz="1450" dirty="0"/>
          </a:p>
        </p:txBody>
      </p:sp>
      <p:sp>
        <p:nvSpPr>
          <p:cNvPr id="7" name="Text 4"/>
          <p:cNvSpPr/>
          <p:nvPr/>
        </p:nvSpPr>
        <p:spPr>
          <a:xfrm>
            <a:off x="1371600" y="2057400"/>
            <a:ext cx="4800600" cy="685800"/>
          </a:xfrm>
          <a:prstGeom prst="rect">
            <a:avLst/>
          </a:prstGeom>
          <a:noFill/>
          <a:ln/>
        </p:spPr>
        <p:txBody>
          <a:bodyPr wrap="square" lIns="0" tIns="0" rIns="0" bIns="0" rtlCol="0" anchor="ctr"/>
          <a:lstStyle/>
          <a:p>
            <a:pPr indent="0" marL="0">
              <a:lnSpc>
                <a:spcPct val="115000"/>
              </a:lnSpc>
              <a:buNone/>
            </a:pPr>
            <a:r>
              <a:rPr lang="en-US" sz="1150" dirty="0">
                <a:solidFill>
                  <a:srgbClr val="64748B"/>
                </a:solidFill>
                <a:latin typeface="Segoe UI" pitchFamily="34" charset="0"/>
                <a:ea typeface="Segoe UI" pitchFamily="34" charset="-122"/>
                <a:cs typeface="Segoe UI" pitchFamily="34" charset="-120"/>
              </a:rPr>
              <a:t>Búsqueda y carga en vivo desde el catálogo de datos.gov.co.</a:t>
            </a:r>
            <a:endParaRPr lang="en-US" sz="1150" dirty="0"/>
          </a:p>
        </p:txBody>
      </p:sp>
      <p:sp>
        <p:nvSpPr>
          <p:cNvPr id="8" name="Shape 5"/>
          <p:cNvSpPr/>
          <p:nvPr/>
        </p:nvSpPr>
        <p:spPr>
          <a:xfrm>
            <a:off x="640080" y="2862072"/>
            <a:ext cx="512064" cy="512064"/>
          </a:xfrm>
          <a:prstGeom prst="ellipse">
            <a:avLst/>
          </a:prstGeom>
          <a:solidFill>
            <a:srgbClr val="0EA5E9"/>
          </a:solidFill>
          <a:ln/>
        </p:spPr>
      </p:sp>
      <p:pic>
        <p:nvPicPr>
          <p:cNvPr id="9" name="Image 1" descr="/home/claude/pptx-lienzo/icons/tag.png">    </p:cNvPr>
          <p:cNvPicPr>
            <a:picLocks noChangeAspect="1"/>
          </p:cNvPicPr>
          <p:nvPr/>
        </p:nvPicPr>
        <p:blipFill>
          <a:blip r:embed="rId2"/>
          <a:stretch>
            <a:fillRect/>
          </a:stretch>
        </p:blipFill>
        <p:spPr>
          <a:xfrm>
            <a:off x="755294" y="2977286"/>
            <a:ext cx="281635" cy="281635"/>
          </a:xfrm>
          <a:prstGeom prst="rect">
            <a:avLst/>
          </a:prstGeom>
        </p:spPr>
      </p:pic>
      <p:sp>
        <p:nvSpPr>
          <p:cNvPr id="10" name="Text 6"/>
          <p:cNvSpPr/>
          <p:nvPr/>
        </p:nvSpPr>
        <p:spPr>
          <a:xfrm>
            <a:off x="1371600" y="2816352"/>
            <a:ext cx="4754880" cy="320040"/>
          </a:xfrm>
          <a:prstGeom prst="rect">
            <a:avLst/>
          </a:prstGeom>
          <a:noFill/>
          <a:ln/>
        </p:spPr>
        <p:txBody>
          <a:bodyPr wrap="square" lIns="0" tIns="0" rIns="0" bIns="0" rtlCol="0" anchor="ctr"/>
          <a:lstStyle/>
          <a:p>
            <a:pPr indent="0" marL="0">
              <a:buNone/>
            </a:pPr>
            <a:r>
              <a:rPr lang="en-US" sz="1450" b="1" dirty="0">
                <a:solidFill>
                  <a:srgbClr val="0F172A"/>
                </a:solidFill>
                <a:latin typeface="Segoe UI" pitchFamily="34" charset="0"/>
                <a:ea typeface="Segoe UI" pitchFamily="34" charset="-122"/>
                <a:cs typeface="Segoe UI" pitchFamily="34" charset="-120"/>
              </a:rPr>
              <a:t>Extracción real de metadatos</a:t>
            </a:r>
            <a:endParaRPr lang="en-US" sz="1450" dirty="0"/>
          </a:p>
        </p:txBody>
      </p:sp>
      <p:sp>
        <p:nvSpPr>
          <p:cNvPr id="11" name="Text 7"/>
          <p:cNvSpPr/>
          <p:nvPr/>
        </p:nvSpPr>
        <p:spPr>
          <a:xfrm>
            <a:off x="1371600" y="3136392"/>
            <a:ext cx="4800600" cy="685800"/>
          </a:xfrm>
          <a:prstGeom prst="rect">
            <a:avLst/>
          </a:prstGeom>
          <a:noFill/>
          <a:ln/>
        </p:spPr>
        <p:txBody>
          <a:bodyPr wrap="square" lIns="0" tIns="0" rIns="0" bIns="0" rtlCol="0" anchor="ctr"/>
          <a:lstStyle/>
          <a:p>
            <a:pPr indent="0" marL="0">
              <a:lnSpc>
                <a:spcPct val="115000"/>
              </a:lnSpc>
              <a:buNone/>
            </a:pPr>
            <a:r>
              <a:rPr lang="en-US" sz="1150" dirty="0">
                <a:solidFill>
                  <a:srgbClr val="64748B"/>
                </a:solidFill>
                <a:latin typeface="Segoe UI" pitchFamily="34" charset="0"/>
                <a:ea typeface="Segoe UI" pitchFamily="34" charset="-122"/>
                <a:cs typeface="Segoe UI" pitchFamily="34" charset="-120"/>
              </a:rPr>
              <a:t>Vistas, descargas, institución publicadora y enlace oficial — no datos inventados.</a:t>
            </a:r>
            <a:endParaRPr lang="en-US" sz="1150" dirty="0"/>
          </a:p>
        </p:txBody>
      </p:sp>
      <p:sp>
        <p:nvSpPr>
          <p:cNvPr id="12" name="Shape 8"/>
          <p:cNvSpPr/>
          <p:nvPr/>
        </p:nvSpPr>
        <p:spPr>
          <a:xfrm>
            <a:off x="640080" y="3941064"/>
            <a:ext cx="512064" cy="512064"/>
          </a:xfrm>
          <a:prstGeom prst="ellipse">
            <a:avLst/>
          </a:prstGeom>
          <a:solidFill>
            <a:srgbClr val="0EA5E9"/>
          </a:solidFill>
          <a:ln/>
        </p:spPr>
      </p:sp>
      <p:pic>
        <p:nvPicPr>
          <p:cNvPr id="13" name="Image 2" descr="/home/claude/pptx-lienzo/icons/database.png">    </p:cNvPr>
          <p:cNvPicPr>
            <a:picLocks noChangeAspect="1"/>
          </p:cNvPicPr>
          <p:nvPr/>
        </p:nvPicPr>
        <p:blipFill>
          <a:blip r:embed="rId3"/>
          <a:stretch>
            <a:fillRect/>
          </a:stretch>
        </p:blipFill>
        <p:spPr>
          <a:xfrm>
            <a:off x="755294" y="4056278"/>
            <a:ext cx="281635" cy="281635"/>
          </a:xfrm>
          <a:prstGeom prst="rect">
            <a:avLst/>
          </a:prstGeom>
        </p:spPr>
      </p:pic>
      <p:sp>
        <p:nvSpPr>
          <p:cNvPr id="14" name="Text 9"/>
          <p:cNvSpPr/>
          <p:nvPr/>
        </p:nvSpPr>
        <p:spPr>
          <a:xfrm>
            <a:off x="1371600" y="3895344"/>
            <a:ext cx="4754880" cy="320040"/>
          </a:xfrm>
          <a:prstGeom prst="rect">
            <a:avLst/>
          </a:prstGeom>
          <a:noFill/>
          <a:ln/>
        </p:spPr>
        <p:txBody>
          <a:bodyPr wrap="square" lIns="0" tIns="0" rIns="0" bIns="0" rtlCol="0" anchor="ctr"/>
          <a:lstStyle/>
          <a:p>
            <a:pPr indent="0" marL="0">
              <a:buNone/>
            </a:pPr>
            <a:r>
              <a:rPr lang="en-US" sz="1450" b="1" dirty="0">
                <a:solidFill>
                  <a:srgbClr val="0F172A"/>
                </a:solidFill>
                <a:latin typeface="Segoe UI" pitchFamily="34" charset="0"/>
                <a:ea typeface="Segoe UI" pitchFamily="34" charset="-122"/>
                <a:cs typeface="Segoe UI" pitchFamily="34" charset="-120"/>
              </a:rPr>
              <a:t>Carga masiva a memoria temporal</a:t>
            </a:r>
            <a:endParaRPr lang="en-US" sz="1450" dirty="0"/>
          </a:p>
        </p:txBody>
      </p:sp>
      <p:sp>
        <p:nvSpPr>
          <p:cNvPr id="15" name="Text 10"/>
          <p:cNvSpPr/>
          <p:nvPr/>
        </p:nvSpPr>
        <p:spPr>
          <a:xfrm>
            <a:off x="1371600" y="4215384"/>
            <a:ext cx="4800600" cy="685800"/>
          </a:xfrm>
          <a:prstGeom prst="rect">
            <a:avLst/>
          </a:prstGeom>
          <a:noFill/>
          <a:ln/>
        </p:spPr>
        <p:txBody>
          <a:bodyPr wrap="square" lIns="0" tIns="0" rIns="0" bIns="0" rtlCol="0" anchor="ctr"/>
          <a:lstStyle/>
          <a:p>
            <a:pPr indent="0" marL="0">
              <a:lnSpc>
                <a:spcPct val="115000"/>
              </a:lnSpc>
              <a:buNone/>
            </a:pPr>
            <a:r>
              <a:rPr lang="en-US" sz="1150" dirty="0">
                <a:solidFill>
                  <a:srgbClr val="64748B"/>
                </a:solidFill>
                <a:latin typeface="Segoe UI" pitchFamily="34" charset="0"/>
                <a:ea typeface="Segoe UI" pitchFamily="34" charset="-122"/>
                <a:cs typeface="Segoe UI" pitchFamily="34" charset="-120"/>
              </a:rPr>
              <a:t>Hasta 50.000 filas procesadas en el navegador, sin saturar servidores.</a:t>
            </a:r>
            <a:endParaRPr lang="en-US" sz="1150" dirty="0"/>
          </a:p>
        </p:txBody>
      </p:sp>
      <p:sp>
        <p:nvSpPr>
          <p:cNvPr id="16" name="Shape 11"/>
          <p:cNvSpPr/>
          <p:nvPr/>
        </p:nvSpPr>
        <p:spPr>
          <a:xfrm>
            <a:off x="640080" y="5020056"/>
            <a:ext cx="512064" cy="512064"/>
          </a:xfrm>
          <a:prstGeom prst="ellipse">
            <a:avLst/>
          </a:prstGeom>
          <a:solidFill>
            <a:srgbClr val="0EA5E9"/>
          </a:solidFill>
          <a:ln/>
        </p:spPr>
      </p:sp>
      <p:pic>
        <p:nvPicPr>
          <p:cNvPr id="17" name="Image 3" descr="/home/claude/pptx-lienzo/icons/layers.png">    </p:cNvPr>
          <p:cNvPicPr>
            <a:picLocks noChangeAspect="1"/>
          </p:cNvPicPr>
          <p:nvPr/>
        </p:nvPicPr>
        <p:blipFill>
          <a:blip r:embed="rId4"/>
          <a:stretch>
            <a:fillRect/>
          </a:stretch>
        </p:blipFill>
        <p:spPr>
          <a:xfrm>
            <a:off x="755294" y="5135270"/>
            <a:ext cx="281635" cy="281635"/>
          </a:xfrm>
          <a:prstGeom prst="rect">
            <a:avLst/>
          </a:prstGeom>
        </p:spPr>
      </p:pic>
      <p:sp>
        <p:nvSpPr>
          <p:cNvPr id="18" name="Text 12"/>
          <p:cNvSpPr/>
          <p:nvPr/>
        </p:nvSpPr>
        <p:spPr>
          <a:xfrm>
            <a:off x="1371600" y="4974336"/>
            <a:ext cx="4754880" cy="320040"/>
          </a:xfrm>
          <a:prstGeom prst="rect">
            <a:avLst/>
          </a:prstGeom>
          <a:noFill/>
          <a:ln/>
        </p:spPr>
        <p:txBody>
          <a:bodyPr wrap="square" lIns="0" tIns="0" rIns="0" bIns="0" rtlCol="0" anchor="ctr"/>
          <a:lstStyle/>
          <a:p>
            <a:pPr indent="0" marL="0">
              <a:buNone/>
            </a:pPr>
            <a:r>
              <a:rPr lang="en-US" sz="1450" b="1" dirty="0">
                <a:solidFill>
                  <a:srgbClr val="0F172A"/>
                </a:solidFill>
                <a:latin typeface="Segoe UI" pitchFamily="34" charset="0"/>
                <a:ea typeface="Segoe UI" pitchFamily="34" charset="-122"/>
                <a:cs typeface="Segoe UI" pitchFamily="34" charset="-120"/>
              </a:rPr>
              <a:t>Alineado con hojas de ruta sectoriales</a:t>
            </a:r>
            <a:endParaRPr lang="en-US" sz="1450" dirty="0"/>
          </a:p>
        </p:txBody>
      </p:sp>
      <p:sp>
        <p:nvSpPr>
          <p:cNvPr id="19" name="Text 13"/>
          <p:cNvSpPr/>
          <p:nvPr/>
        </p:nvSpPr>
        <p:spPr>
          <a:xfrm>
            <a:off x="1371600" y="5294376"/>
            <a:ext cx="4800600" cy="685800"/>
          </a:xfrm>
          <a:prstGeom prst="rect">
            <a:avLst/>
          </a:prstGeom>
          <a:noFill/>
          <a:ln/>
        </p:spPr>
        <p:txBody>
          <a:bodyPr wrap="square" lIns="0" tIns="0" rIns="0" bIns="0" rtlCol="0" anchor="ctr"/>
          <a:lstStyle/>
          <a:p>
            <a:pPr indent="0" marL="0">
              <a:lnSpc>
                <a:spcPct val="115000"/>
              </a:lnSpc>
              <a:buNone/>
            </a:pPr>
            <a:r>
              <a:rPr lang="en-US" sz="1150" dirty="0">
                <a:solidFill>
                  <a:srgbClr val="64748B"/>
                </a:solidFill>
                <a:latin typeface="Segoe UI" pitchFamily="34" charset="0"/>
                <a:ea typeface="Segoe UI" pitchFamily="34" charset="-122"/>
                <a:cs typeface="Segoe UI" pitchFamily="34" charset="-120"/>
              </a:rPr>
              <a:t>Salud, Educación, Finanzas — clasificación automática por categoría.</a:t>
            </a:r>
            <a:endParaRPr lang="en-US" sz="1150" dirty="0"/>
          </a:p>
        </p:txBody>
      </p:sp>
      <p:sp>
        <p:nvSpPr>
          <p:cNvPr id="20" name="Shape 14"/>
          <p:cNvSpPr/>
          <p:nvPr/>
        </p:nvSpPr>
        <p:spPr>
          <a:xfrm>
            <a:off x="6720840" y="1783080"/>
            <a:ext cx="4846320" cy="3246120"/>
          </a:xfrm>
          <a:prstGeom prst="roundRect">
            <a:avLst>
              <a:gd name="adj" fmla="val 2817"/>
            </a:avLst>
          </a:prstGeom>
          <a:solidFill>
            <a:srgbClr val="0F172A"/>
          </a:solidFill>
          <a:ln/>
        </p:spPr>
      </p:sp>
      <p:sp>
        <p:nvSpPr>
          <p:cNvPr id="21" name="Text 15"/>
          <p:cNvSpPr/>
          <p:nvPr/>
        </p:nvSpPr>
        <p:spPr>
          <a:xfrm>
            <a:off x="7040880" y="2057400"/>
            <a:ext cx="4206240" cy="274320"/>
          </a:xfrm>
          <a:prstGeom prst="rect">
            <a:avLst/>
          </a:prstGeom>
          <a:noFill/>
          <a:ln/>
        </p:spPr>
        <p:txBody>
          <a:bodyPr wrap="square" lIns="0" tIns="0" rIns="0" bIns="0" rtlCol="0" anchor="ctr"/>
          <a:lstStyle/>
          <a:p>
            <a:pPr indent="0" marL="0">
              <a:buNone/>
            </a:pPr>
            <a:r>
              <a:rPr lang="en-US" sz="1100" b="1" spc="150" kern="0" dirty="0">
                <a:solidFill>
                  <a:srgbClr val="0EA5E9"/>
                </a:solidFill>
                <a:latin typeface="Segoe UI" pitchFamily="34" charset="0"/>
                <a:ea typeface="Segoe UI" pitchFamily="34" charset="-122"/>
                <a:cs typeface="Segoe UI" pitchFamily="34" charset="-120"/>
              </a:rPr>
              <a:t>METADATOS DEL CONJUNTO</a:t>
            </a:r>
            <a:endParaRPr lang="en-US" sz="1100" dirty="0"/>
          </a:p>
        </p:txBody>
      </p:sp>
      <p:sp>
        <p:nvSpPr>
          <p:cNvPr id="22" name="Text 16"/>
          <p:cNvSpPr/>
          <p:nvPr/>
        </p:nvSpPr>
        <p:spPr>
          <a:xfrm>
            <a:off x="7040880" y="2350008"/>
            <a:ext cx="4206240" cy="365760"/>
          </a:xfrm>
          <a:prstGeom prst="rect">
            <a:avLst/>
          </a:prstGeom>
          <a:noFill/>
          <a:ln/>
        </p:spPr>
        <p:txBody>
          <a:bodyPr wrap="square" lIns="0" tIns="0" rIns="0" bIns="0"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Morbilidad Atendida — Secretaría de Salud</a:t>
            </a:r>
            <a:endParaRPr lang="en-US" sz="1500" dirty="0"/>
          </a:p>
        </p:txBody>
      </p:sp>
      <p:sp>
        <p:nvSpPr>
          <p:cNvPr id="23" name="Text 17"/>
          <p:cNvSpPr/>
          <p:nvPr/>
        </p:nvSpPr>
        <p:spPr>
          <a:xfrm>
            <a:off x="7040880" y="2971800"/>
            <a:ext cx="1965960" cy="228600"/>
          </a:xfrm>
          <a:prstGeom prst="rect">
            <a:avLst/>
          </a:prstGeom>
          <a:noFill/>
          <a:ln/>
        </p:spPr>
        <p:txBody>
          <a:bodyPr wrap="square" lIns="0" tIns="0" rIns="0" bIns="0" rtlCol="0" anchor="ctr"/>
          <a:lstStyle/>
          <a:p>
            <a:pPr indent="0" marL="0">
              <a:buNone/>
            </a:pPr>
            <a:r>
              <a:rPr lang="en-US" sz="950" spc="100" kern="0" dirty="0">
                <a:solidFill>
                  <a:srgbClr val="94A3B8"/>
                </a:solidFill>
                <a:latin typeface="Segoe UI" pitchFamily="34" charset="0"/>
                <a:ea typeface="Segoe UI" pitchFamily="34" charset="-122"/>
                <a:cs typeface="Segoe UI" pitchFamily="34" charset="-120"/>
              </a:rPr>
              <a:t>ENTIDAD</a:t>
            </a:r>
            <a:endParaRPr lang="en-US" sz="950" dirty="0"/>
          </a:p>
        </p:txBody>
      </p:sp>
      <p:sp>
        <p:nvSpPr>
          <p:cNvPr id="24" name="Text 18"/>
          <p:cNvSpPr/>
          <p:nvPr/>
        </p:nvSpPr>
        <p:spPr>
          <a:xfrm>
            <a:off x="7040880" y="3200400"/>
            <a:ext cx="1965960" cy="320040"/>
          </a:xfrm>
          <a:prstGeom prst="rect">
            <a:avLst/>
          </a:prstGeom>
          <a:noFill/>
          <a:ln/>
        </p:spPr>
        <p:txBody>
          <a:bodyPr wrap="square" lIns="0" tIns="0" rIns="0" bIns="0"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Ministerio de Salud</a:t>
            </a:r>
            <a:endParaRPr lang="en-US" sz="1500" dirty="0"/>
          </a:p>
        </p:txBody>
      </p:sp>
      <p:sp>
        <p:nvSpPr>
          <p:cNvPr id="25" name="Text 19"/>
          <p:cNvSpPr/>
          <p:nvPr/>
        </p:nvSpPr>
        <p:spPr>
          <a:xfrm>
            <a:off x="9235440" y="2971800"/>
            <a:ext cx="1965960" cy="228600"/>
          </a:xfrm>
          <a:prstGeom prst="rect">
            <a:avLst/>
          </a:prstGeom>
          <a:noFill/>
          <a:ln/>
        </p:spPr>
        <p:txBody>
          <a:bodyPr wrap="square" lIns="0" tIns="0" rIns="0" bIns="0" rtlCol="0" anchor="ctr"/>
          <a:lstStyle/>
          <a:p>
            <a:pPr indent="0" marL="0">
              <a:buNone/>
            </a:pPr>
            <a:r>
              <a:rPr lang="en-US" sz="950" spc="100" kern="0" dirty="0">
                <a:solidFill>
                  <a:srgbClr val="94A3B8"/>
                </a:solidFill>
                <a:latin typeface="Segoe UI" pitchFamily="34" charset="0"/>
                <a:ea typeface="Segoe UI" pitchFamily="34" charset="-122"/>
                <a:cs typeface="Segoe UI" pitchFamily="34" charset="-120"/>
              </a:rPr>
              <a:t>ORDEN</a:t>
            </a:r>
            <a:endParaRPr lang="en-US" sz="950" dirty="0"/>
          </a:p>
        </p:txBody>
      </p:sp>
      <p:sp>
        <p:nvSpPr>
          <p:cNvPr id="26" name="Text 20"/>
          <p:cNvSpPr/>
          <p:nvPr/>
        </p:nvSpPr>
        <p:spPr>
          <a:xfrm>
            <a:off x="9235440" y="3200400"/>
            <a:ext cx="1965960" cy="320040"/>
          </a:xfrm>
          <a:prstGeom prst="rect">
            <a:avLst/>
          </a:prstGeom>
          <a:noFill/>
          <a:ln/>
        </p:spPr>
        <p:txBody>
          <a:bodyPr wrap="square" lIns="0" tIns="0" rIns="0" bIns="0"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Nacional</a:t>
            </a:r>
            <a:endParaRPr lang="en-US" sz="1500" dirty="0"/>
          </a:p>
        </p:txBody>
      </p:sp>
      <p:sp>
        <p:nvSpPr>
          <p:cNvPr id="27" name="Text 21"/>
          <p:cNvSpPr/>
          <p:nvPr/>
        </p:nvSpPr>
        <p:spPr>
          <a:xfrm>
            <a:off x="7040880" y="3749040"/>
            <a:ext cx="1965960" cy="228600"/>
          </a:xfrm>
          <a:prstGeom prst="rect">
            <a:avLst/>
          </a:prstGeom>
          <a:noFill/>
          <a:ln/>
        </p:spPr>
        <p:txBody>
          <a:bodyPr wrap="square" lIns="0" tIns="0" rIns="0" bIns="0" rtlCol="0" anchor="ctr"/>
          <a:lstStyle/>
          <a:p>
            <a:pPr indent="0" marL="0">
              <a:buNone/>
            </a:pPr>
            <a:r>
              <a:rPr lang="en-US" sz="950" spc="100" kern="0" dirty="0">
                <a:solidFill>
                  <a:srgbClr val="94A3B8"/>
                </a:solidFill>
                <a:latin typeface="Segoe UI" pitchFamily="34" charset="0"/>
                <a:ea typeface="Segoe UI" pitchFamily="34" charset="-122"/>
                <a:cs typeface="Segoe UI" pitchFamily="34" charset="-120"/>
              </a:rPr>
              <a:t>VISTAS</a:t>
            </a:r>
            <a:endParaRPr lang="en-US" sz="950" dirty="0"/>
          </a:p>
        </p:txBody>
      </p:sp>
      <p:sp>
        <p:nvSpPr>
          <p:cNvPr id="28" name="Text 22"/>
          <p:cNvSpPr/>
          <p:nvPr/>
        </p:nvSpPr>
        <p:spPr>
          <a:xfrm>
            <a:off x="7040880" y="3977640"/>
            <a:ext cx="1965960" cy="320040"/>
          </a:xfrm>
          <a:prstGeom prst="rect">
            <a:avLst/>
          </a:prstGeom>
          <a:noFill/>
          <a:ln/>
        </p:spPr>
        <p:txBody>
          <a:bodyPr wrap="square" lIns="0" tIns="0" rIns="0" bIns="0"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48.302</a:t>
            </a:r>
            <a:endParaRPr lang="en-US" sz="1500" dirty="0"/>
          </a:p>
        </p:txBody>
      </p:sp>
      <p:sp>
        <p:nvSpPr>
          <p:cNvPr id="29" name="Text 23"/>
          <p:cNvSpPr/>
          <p:nvPr/>
        </p:nvSpPr>
        <p:spPr>
          <a:xfrm>
            <a:off x="9235440" y="3749040"/>
            <a:ext cx="1965960" cy="228600"/>
          </a:xfrm>
          <a:prstGeom prst="rect">
            <a:avLst/>
          </a:prstGeom>
          <a:noFill/>
          <a:ln/>
        </p:spPr>
        <p:txBody>
          <a:bodyPr wrap="square" lIns="0" tIns="0" rIns="0" bIns="0" rtlCol="0" anchor="ctr"/>
          <a:lstStyle/>
          <a:p>
            <a:pPr indent="0" marL="0">
              <a:buNone/>
            </a:pPr>
            <a:r>
              <a:rPr lang="en-US" sz="950" spc="100" kern="0" dirty="0">
                <a:solidFill>
                  <a:srgbClr val="94A3B8"/>
                </a:solidFill>
                <a:latin typeface="Segoe UI" pitchFamily="34" charset="0"/>
                <a:ea typeface="Segoe UI" pitchFamily="34" charset="-122"/>
                <a:cs typeface="Segoe UI" pitchFamily="34" charset="-120"/>
              </a:rPr>
              <a:t>DESCARGAS</a:t>
            </a:r>
            <a:endParaRPr lang="en-US" sz="950" dirty="0"/>
          </a:p>
        </p:txBody>
      </p:sp>
      <p:sp>
        <p:nvSpPr>
          <p:cNvPr id="30" name="Text 24"/>
          <p:cNvSpPr/>
          <p:nvPr/>
        </p:nvSpPr>
        <p:spPr>
          <a:xfrm>
            <a:off x="9235440" y="3977640"/>
            <a:ext cx="1965960" cy="320040"/>
          </a:xfrm>
          <a:prstGeom prst="rect">
            <a:avLst/>
          </a:prstGeom>
          <a:noFill/>
          <a:ln/>
        </p:spPr>
        <p:txBody>
          <a:bodyPr wrap="square" lIns="0" tIns="0" rIns="0" bIns="0"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6.117</a:t>
            </a:r>
            <a:endParaRPr lang="en-US" sz="1500" dirty="0"/>
          </a:p>
        </p:txBody>
      </p:sp>
      <p:sp>
        <p:nvSpPr>
          <p:cNvPr id="31" name="Shape 25"/>
          <p:cNvSpPr/>
          <p:nvPr/>
        </p:nvSpPr>
        <p:spPr>
          <a:xfrm>
            <a:off x="7040880" y="4526280"/>
            <a:ext cx="4206240" cy="384048"/>
          </a:xfrm>
          <a:prstGeom prst="roundRect">
            <a:avLst>
              <a:gd name="adj" fmla="val 19048"/>
            </a:avLst>
          </a:prstGeom>
          <a:solidFill>
            <a:srgbClr val="0EA5E9">
              <a:alpha val="15000"/>
            </a:srgbClr>
          </a:solidFill>
          <a:ln w="12700">
            <a:solidFill>
              <a:srgbClr val="0EA5E9"/>
            </a:solidFill>
            <a:prstDash val="solid"/>
          </a:ln>
        </p:spPr>
      </p:sp>
      <p:sp>
        <p:nvSpPr>
          <p:cNvPr id="32" name="Text 26"/>
          <p:cNvSpPr/>
          <p:nvPr/>
        </p:nvSpPr>
        <p:spPr>
          <a:xfrm>
            <a:off x="7178040" y="4526280"/>
            <a:ext cx="3931920" cy="384048"/>
          </a:xfrm>
          <a:prstGeom prst="rect">
            <a:avLst/>
          </a:prstGeom>
          <a:noFill/>
          <a:ln/>
        </p:spPr>
        <p:txBody>
          <a:bodyPr wrap="square" lIns="0" tIns="0" rIns="0" bIns="0" rtlCol="0" anchor="ctr"/>
          <a:lstStyle/>
          <a:p>
            <a:pPr indent="0" marL="0">
              <a:buNone/>
            </a:pPr>
            <a:r>
              <a:rPr lang="en-US" sz="1050" b="1" dirty="0">
                <a:solidFill>
                  <a:srgbClr val="0EA5E9"/>
                </a:solidFill>
                <a:latin typeface="Segoe UI" pitchFamily="34" charset="0"/>
                <a:ea typeface="Segoe UI" pitchFamily="34" charset="-122"/>
                <a:cs typeface="Segoe UI" pitchFamily="34" charset="-120"/>
              </a:rPr>
              <a:t>🔗  Ver enlace oficial en datos.gov.co</a:t>
            </a:r>
            <a:endParaRPr lang="en-US" sz="1050" dirty="0"/>
          </a:p>
        </p:txBody>
      </p:sp>
      <p:sp>
        <p:nvSpPr>
          <p:cNvPr id="33" name="Text 27"/>
          <p:cNvSpPr/>
          <p:nvPr/>
        </p:nvSpPr>
        <p:spPr>
          <a:xfrm>
            <a:off x="640080" y="6419088"/>
            <a:ext cx="4572000" cy="274320"/>
          </a:xfrm>
          <a:prstGeom prst="rect">
            <a:avLst/>
          </a:prstGeom>
          <a:noFill/>
          <a:ln/>
        </p:spPr>
        <p:txBody>
          <a:bodyPr wrap="square" lIns="0" tIns="0" rIns="0" bIns="0" rtlCol="0" anchor="ctr"/>
          <a:lstStyle/>
          <a:p>
            <a:pPr indent="0" marL="0">
              <a:buNone/>
            </a:pPr>
            <a:r>
              <a:rPr lang="en-US" sz="950" spc="100" kern="0" dirty="0">
                <a:solidFill>
                  <a:srgbClr val="64748B"/>
                </a:solidFill>
                <a:latin typeface="Segoe UI" pitchFamily="34" charset="0"/>
                <a:ea typeface="Segoe UI" pitchFamily="34" charset="-122"/>
                <a:cs typeface="Segoe UI" pitchFamily="34" charset="-120"/>
              </a:rPr>
              <a:t>EL ROSAL · LIENZO EJECUTIVO</a:t>
            </a:r>
            <a:endParaRPr lang="en-US" sz="950" dirty="0"/>
          </a:p>
        </p:txBody>
      </p:sp>
      <p:sp>
        <p:nvSpPr>
          <p:cNvPr id="34" name="Text 28"/>
          <p:cNvSpPr/>
          <p:nvPr/>
        </p:nvSpPr>
        <p:spPr>
          <a:xfrm>
            <a:off x="11000232" y="6419088"/>
            <a:ext cx="914400" cy="274320"/>
          </a:xfrm>
          <a:prstGeom prst="rect">
            <a:avLst/>
          </a:prstGeom>
          <a:noFill/>
          <a:ln/>
        </p:spPr>
        <p:txBody>
          <a:bodyPr wrap="square" lIns="0" tIns="0" rIns="0" bIns="0" rtlCol="0" anchor="ctr"/>
          <a:lstStyle/>
          <a:p>
            <a:pPr algn="r" indent="0" marL="0">
              <a:buNone/>
            </a:pPr>
            <a:r>
              <a:rPr lang="en-US" sz="950" dirty="0">
                <a:solidFill>
                  <a:srgbClr val="64748B"/>
                </a:solidFill>
                <a:latin typeface="Segoe UI" pitchFamily="34" charset="0"/>
                <a:ea typeface="Segoe UI" pitchFamily="34" charset="-122"/>
                <a:cs typeface="Segoe UI" pitchFamily="34" charset="-120"/>
              </a:rPr>
              <a:t>04 / 10</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A5E9"/>
                </a:solidFill>
                <a:latin typeface="Segoe UI" pitchFamily="34" charset="0"/>
                <a:ea typeface="Segoe UI" pitchFamily="34" charset="-122"/>
                <a:cs typeface="Segoe UI" pitchFamily="34" charset="-120"/>
              </a:rPr>
              <a:t>ANÁLISIS Y RIGOR TÉCNICO · 15 PTS</a:t>
            </a:r>
            <a:endParaRPr lang="en-US" sz="1250" dirty="0"/>
          </a:p>
        </p:txBody>
      </p:sp>
      <p:sp>
        <p:nvSpPr>
          <p:cNvPr id="3" name="Text 1"/>
          <p:cNvSpPr/>
          <p:nvPr/>
        </p:nvSpPr>
        <p:spPr>
          <a:xfrm>
            <a:off x="640080" y="713232"/>
            <a:ext cx="10789920" cy="685800"/>
          </a:xfrm>
          <a:prstGeom prst="rect">
            <a:avLst/>
          </a:prstGeom>
          <a:noFill/>
          <a:ln/>
        </p:spPr>
        <p:txBody>
          <a:bodyPr wrap="square" lIns="0" tIns="0" rIns="0" bIns="0" rtlCol="0" anchor="ctr"/>
          <a:lstStyle/>
          <a:p>
            <a:pPr indent="0" marL="0">
              <a:buNone/>
            </a:pPr>
            <a:r>
              <a:rPr lang="en-US" sz="2900" b="1" dirty="0">
                <a:solidFill>
                  <a:srgbClr val="0F172A"/>
                </a:solidFill>
                <a:latin typeface="Segoe UI" pitchFamily="34" charset="0"/>
                <a:ea typeface="Segoe UI" pitchFamily="34" charset="-122"/>
                <a:cs typeface="Segoe UI" pitchFamily="34" charset="-120"/>
              </a:rPr>
              <a:t>Rigor Técnico y Perfilamiento Estadístico</a:t>
            </a:r>
            <a:endParaRPr lang="en-US" sz="2900" dirty="0"/>
          </a:p>
        </p:txBody>
      </p:sp>
      <p:sp>
        <p:nvSpPr>
          <p:cNvPr id="4" name="Shape 2"/>
          <p:cNvSpPr/>
          <p:nvPr/>
        </p:nvSpPr>
        <p:spPr>
          <a:xfrm>
            <a:off x="640080" y="1965960"/>
            <a:ext cx="566928" cy="566928"/>
          </a:xfrm>
          <a:prstGeom prst="ellipse">
            <a:avLst/>
          </a:prstGeom>
          <a:solidFill>
            <a:srgbClr val="0F172A"/>
          </a:solidFill>
          <a:ln/>
        </p:spPr>
      </p:sp>
      <p:pic>
        <p:nvPicPr>
          <p:cNvPr id="5" name="Image 0" descr="/home/claude/pptx-lienzo/icons/tag.png">    </p:cNvPr>
          <p:cNvPicPr>
            <a:picLocks noChangeAspect="1"/>
          </p:cNvPicPr>
          <p:nvPr/>
        </p:nvPicPr>
        <p:blipFill>
          <a:blip r:embed="rId1"/>
          <a:stretch>
            <a:fillRect/>
          </a:stretch>
        </p:blipFill>
        <p:spPr>
          <a:xfrm>
            <a:off x="764804" y="2090684"/>
            <a:ext cx="317480" cy="317480"/>
          </a:xfrm>
          <a:prstGeom prst="rect">
            <a:avLst/>
          </a:prstGeom>
        </p:spPr>
      </p:pic>
      <p:sp>
        <p:nvSpPr>
          <p:cNvPr id="6" name="Text 3"/>
          <p:cNvSpPr/>
          <p:nvPr/>
        </p:nvSpPr>
        <p:spPr>
          <a:xfrm>
            <a:off x="1481328" y="1938528"/>
            <a:ext cx="4663440" cy="36576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Clasificación automática</a:t>
            </a:r>
            <a:endParaRPr lang="en-US" sz="1600" dirty="0"/>
          </a:p>
        </p:txBody>
      </p:sp>
      <p:sp>
        <p:nvSpPr>
          <p:cNvPr id="7" name="Text 4"/>
          <p:cNvSpPr/>
          <p:nvPr/>
        </p:nvSpPr>
        <p:spPr>
          <a:xfrm>
            <a:off x="1481328" y="2295144"/>
            <a:ext cx="4709160" cy="822960"/>
          </a:xfrm>
          <a:prstGeom prst="rect">
            <a:avLst/>
          </a:prstGeom>
          <a:noFill/>
          <a:ln/>
        </p:spPr>
        <p:txBody>
          <a:bodyPr wrap="square" lIns="0" tIns="0" rIns="0" bIns="0" rtlCol="0" anchor="ctr"/>
          <a:lstStyle/>
          <a:p>
            <a:pPr indent="0" marL="0">
              <a:lnSpc>
                <a:spcPct val="115000"/>
              </a:lnSpc>
              <a:buNone/>
            </a:pPr>
            <a:r>
              <a:rPr lang="en-US" sz="1250" dirty="0">
                <a:solidFill>
                  <a:srgbClr val="64748B"/>
                </a:solidFill>
                <a:latin typeface="Segoe UI" pitchFamily="34" charset="0"/>
                <a:ea typeface="Segoe UI" pitchFamily="34" charset="-122"/>
                <a:cs typeface="Segoe UI" pitchFamily="34" charset="-120"/>
              </a:rPr>
              <a:t>Cada columna se identifica como Fecha, Dimensión o Medida antes de proponer nada.</a:t>
            </a:r>
            <a:endParaRPr lang="en-US" sz="1250" dirty="0"/>
          </a:p>
        </p:txBody>
      </p:sp>
      <p:sp>
        <p:nvSpPr>
          <p:cNvPr id="8" name="Shape 5"/>
          <p:cNvSpPr/>
          <p:nvPr/>
        </p:nvSpPr>
        <p:spPr>
          <a:xfrm>
            <a:off x="640080" y="3337560"/>
            <a:ext cx="566928" cy="566928"/>
          </a:xfrm>
          <a:prstGeom prst="ellipse">
            <a:avLst/>
          </a:prstGeom>
          <a:solidFill>
            <a:srgbClr val="0F172A"/>
          </a:solidFill>
          <a:ln/>
        </p:spPr>
      </p:sp>
      <p:pic>
        <p:nvPicPr>
          <p:cNvPr id="9" name="Image 1" descr="/home/claude/pptx-lienzo/icons/check.png">    </p:cNvPr>
          <p:cNvPicPr>
            <a:picLocks noChangeAspect="1"/>
          </p:cNvPicPr>
          <p:nvPr/>
        </p:nvPicPr>
        <p:blipFill>
          <a:blip r:embed="rId2"/>
          <a:stretch>
            <a:fillRect/>
          </a:stretch>
        </p:blipFill>
        <p:spPr>
          <a:xfrm>
            <a:off x="764804" y="3462284"/>
            <a:ext cx="317480" cy="317480"/>
          </a:xfrm>
          <a:prstGeom prst="rect">
            <a:avLst/>
          </a:prstGeom>
        </p:spPr>
      </p:pic>
      <p:sp>
        <p:nvSpPr>
          <p:cNvPr id="10" name="Text 6"/>
          <p:cNvSpPr/>
          <p:nvPr/>
        </p:nvSpPr>
        <p:spPr>
          <a:xfrm>
            <a:off x="1481328" y="3310128"/>
            <a:ext cx="4663440" cy="36576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Agregaciones matemáticas reales</a:t>
            </a:r>
            <a:endParaRPr lang="en-US" sz="1600" dirty="0"/>
          </a:p>
        </p:txBody>
      </p:sp>
      <p:sp>
        <p:nvSpPr>
          <p:cNvPr id="11" name="Text 7"/>
          <p:cNvSpPr/>
          <p:nvPr/>
        </p:nvSpPr>
        <p:spPr>
          <a:xfrm>
            <a:off x="1481328" y="3666744"/>
            <a:ext cx="4709160" cy="822960"/>
          </a:xfrm>
          <a:prstGeom prst="rect">
            <a:avLst/>
          </a:prstGeom>
          <a:noFill/>
          <a:ln/>
        </p:spPr>
        <p:txBody>
          <a:bodyPr wrap="square" lIns="0" tIns="0" rIns="0" bIns="0" rtlCol="0" anchor="ctr"/>
          <a:lstStyle/>
          <a:p>
            <a:pPr indent="0" marL="0">
              <a:lnSpc>
                <a:spcPct val="115000"/>
              </a:lnSpc>
              <a:buNone/>
            </a:pPr>
            <a:r>
              <a:rPr lang="en-US" sz="1250" dirty="0">
                <a:solidFill>
                  <a:srgbClr val="64748B"/>
                </a:solidFill>
                <a:latin typeface="Segoe UI" pitchFamily="34" charset="0"/>
                <a:ea typeface="Segoe UI" pitchFamily="34" charset="-122"/>
                <a:cs typeface="Segoe UI" pitchFamily="34" charset="-120"/>
              </a:rPr>
              <a:t>Sumas, promedios y conteos únicos calculados en el navegador — no estimaciones de IA.</a:t>
            </a:r>
            <a:endParaRPr lang="en-US" sz="1250" dirty="0"/>
          </a:p>
        </p:txBody>
      </p:sp>
      <p:sp>
        <p:nvSpPr>
          <p:cNvPr id="12" name="Shape 8"/>
          <p:cNvSpPr/>
          <p:nvPr/>
        </p:nvSpPr>
        <p:spPr>
          <a:xfrm>
            <a:off x="640080" y="4709160"/>
            <a:ext cx="566928" cy="566928"/>
          </a:xfrm>
          <a:prstGeom prst="ellipse">
            <a:avLst/>
          </a:prstGeom>
          <a:solidFill>
            <a:srgbClr val="0F172A"/>
          </a:solidFill>
          <a:ln/>
        </p:spPr>
      </p:sp>
      <p:pic>
        <p:nvPicPr>
          <p:cNvPr id="13" name="Image 2" descr="/home/claude/pptx-lienzo/icons/sliders.png">    </p:cNvPr>
          <p:cNvPicPr>
            <a:picLocks noChangeAspect="1"/>
          </p:cNvPicPr>
          <p:nvPr/>
        </p:nvPicPr>
        <p:blipFill>
          <a:blip r:embed="rId3"/>
          <a:stretch>
            <a:fillRect/>
          </a:stretch>
        </p:blipFill>
        <p:spPr>
          <a:xfrm>
            <a:off x="764804" y="4833884"/>
            <a:ext cx="317480" cy="317480"/>
          </a:xfrm>
          <a:prstGeom prst="rect">
            <a:avLst/>
          </a:prstGeom>
        </p:spPr>
      </p:pic>
      <p:sp>
        <p:nvSpPr>
          <p:cNvPr id="14" name="Text 9"/>
          <p:cNvSpPr/>
          <p:nvPr/>
        </p:nvSpPr>
        <p:spPr>
          <a:xfrm>
            <a:off x="1481328" y="4681728"/>
            <a:ext cx="4663440" cy="36576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Flexibilidad total</a:t>
            </a:r>
            <a:endParaRPr lang="en-US" sz="1600" dirty="0"/>
          </a:p>
        </p:txBody>
      </p:sp>
      <p:sp>
        <p:nvSpPr>
          <p:cNvPr id="15" name="Text 10"/>
          <p:cNvSpPr/>
          <p:nvPr/>
        </p:nvSpPr>
        <p:spPr>
          <a:xfrm>
            <a:off x="1481328" y="5038344"/>
            <a:ext cx="4709160" cy="822960"/>
          </a:xfrm>
          <a:prstGeom prst="rect">
            <a:avLst/>
          </a:prstGeom>
          <a:noFill/>
          <a:ln/>
        </p:spPr>
        <p:txBody>
          <a:bodyPr wrap="square" lIns="0" tIns="0" rIns="0" bIns="0" rtlCol="0" anchor="ctr"/>
          <a:lstStyle/>
          <a:p>
            <a:pPr indent="0" marL="0">
              <a:lnSpc>
                <a:spcPct val="115000"/>
              </a:lnSpc>
              <a:buNone/>
            </a:pPr>
            <a:r>
              <a:rPr lang="en-US" sz="1250" dirty="0">
                <a:solidFill>
                  <a:srgbClr val="64748B"/>
                </a:solidFill>
                <a:latin typeface="Segoe UI" pitchFamily="34" charset="0"/>
                <a:ea typeface="Segoe UI" pitchFamily="34" charset="-122"/>
                <a:cs typeface="Segoe UI" pitchFamily="34" charset="-120"/>
              </a:rPr>
              <a:t>El usuario ajusta cualquier sugerencia con menús simples, sin tocar código.</a:t>
            </a:r>
            <a:endParaRPr lang="en-US" sz="1250" dirty="0"/>
          </a:p>
        </p:txBody>
      </p:sp>
      <p:sp>
        <p:nvSpPr>
          <p:cNvPr id="16" name="Shape 11"/>
          <p:cNvSpPr/>
          <p:nvPr/>
        </p:nvSpPr>
        <p:spPr>
          <a:xfrm>
            <a:off x="6720840" y="1783080"/>
            <a:ext cx="4846320" cy="4160520"/>
          </a:xfrm>
          <a:prstGeom prst="roundRect">
            <a:avLst>
              <a:gd name="adj" fmla="val 2198"/>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7" name="Text 12"/>
          <p:cNvSpPr/>
          <p:nvPr/>
        </p:nvSpPr>
        <p:spPr>
          <a:xfrm>
            <a:off x="6995160" y="2011680"/>
            <a:ext cx="4297680" cy="274320"/>
          </a:xfrm>
          <a:prstGeom prst="rect">
            <a:avLst/>
          </a:prstGeom>
          <a:noFill/>
          <a:ln/>
        </p:spPr>
        <p:txBody>
          <a:bodyPr wrap="square" lIns="0" tIns="0" rIns="0" bIns="0"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Datos Originales</a:t>
            </a:r>
            <a:endParaRPr lang="en-US" sz="1200" dirty="0"/>
          </a:p>
        </p:txBody>
      </p:sp>
      <p:sp>
        <p:nvSpPr>
          <p:cNvPr id="18" name="Shape 13"/>
          <p:cNvSpPr/>
          <p:nvPr/>
        </p:nvSpPr>
        <p:spPr>
          <a:xfrm>
            <a:off x="6995160" y="2468880"/>
            <a:ext cx="4297680" cy="566928"/>
          </a:xfrm>
          <a:prstGeom prst="roundRect">
            <a:avLst>
              <a:gd name="adj" fmla="val 11290"/>
            </a:avLst>
          </a:prstGeom>
          <a:solidFill>
            <a:srgbClr val="F8FAFC"/>
          </a:solidFill>
          <a:ln w="9525">
            <a:solidFill>
              <a:srgbClr val="E2E8F0"/>
            </a:solidFill>
            <a:prstDash val="solid"/>
          </a:ln>
        </p:spPr>
      </p:sp>
      <p:sp>
        <p:nvSpPr>
          <p:cNvPr id="19" name="Text 14"/>
          <p:cNvSpPr/>
          <p:nvPr/>
        </p:nvSpPr>
        <p:spPr>
          <a:xfrm>
            <a:off x="7178040" y="2468880"/>
            <a:ext cx="2103120" cy="566928"/>
          </a:xfrm>
          <a:prstGeom prst="rect">
            <a:avLst/>
          </a:prstGeom>
          <a:noFill/>
          <a:ln/>
        </p:spPr>
        <p:txBody>
          <a:bodyPr wrap="square" lIns="0" tIns="0" rIns="0" bIns="0"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fecha_registro</a:t>
            </a:r>
            <a:endParaRPr lang="en-US" sz="1200" dirty="0"/>
          </a:p>
        </p:txBody>
      </p:sp>
      <p:sp>
        <p:nvSpPr>
          <p:cNvPr id="20" name="Shape 15"/>
          <p:cNvSpPr/>
          <p:nvPr/>
        </p:nvSpPr>
        <p:spPr>
          <a:xfrm>
            <a:off x="9601200" y="2596896"/>
            <a:ext cx="1691640" cy="310896"/>
          </a:xfrm>
          <a:prstGeom prst="roundRect">
            <a:avLst>
              <a:gd name="adj" fmla="val 50000"/>
            </a:avLst>
          </a:prstGeom>
          <a:solidFill>
            <a:srgbClr val="F3E8FF"/>
          </a:solidFill>
          <a:ln/>
        </p:spPr>
      </p:sp>
      <p:sp>
        <p:nvSpPr>
          <p:cNvPr id="21" name="Text 16"/>
          <p:cNvSpPr/>
          <p:nvPr/>
        </p:nvSpPr>
        <p:spPr>
          <a:xfrm>
            <a:off x="9601200" y="2596896"/>
            <a:ext cx="1691640" cy="310896"/>
          </a:xfrm>
          <a:prstGeom prst="rect">
            <a:avLst/>
          </a:prstGeom>
          <a:noFill/>
          <a:ln/>
        </p:spPr>
        <p:txBody>
          <a:bodyPr wrap="square" lIns="0" tIns="0" rIns="0" bIns="0" rtlCol="0" anchor="ctr"/>
          <a:lstStyle/>
          <a:p>
            <a:pPr algn="ctr" indent="0" marL="0">
              <a:buNone/>
            </a:pPr>
            <a:r>
              <a:rPr lang="en-US" sz="900" b="1" dirty="0">
                <a:solidFill>
                  <a:srgbClr val="9333EA"/>
                </a:solidFill>
                <a:latin typeface="Segoe UI" pitchFamily="34" charset="0"/>
                <a:ea typeface="Segoe UI" pitchFamily="34" charset="-122"/>
                <a:cs typeface="Segoe UI" pitchFamily="34" charset="-120"/>
              </a:rPr>
              <a:t>FECHA</a:t>
            </a:r>
            <a:endParaRPr lang="en-US" sz="900" dirty="0"/>
          </a:p>
        </p:txBody>
      </p:sp>
      <p:sp>
        <p:nvSpPr>
          <p:cNvPr id="22" name="Shape 17"/>
          <p:cNvSpPr/>
          <p:nvPr/>
        </p:nvSpPr>
        <p:spPr>
          <a:xfrm>
            <a:off x="6995160" y="3154680"/>
            <a:ext cx="4297680" cy="566928"/>
          </a:xfrm>
          <a:prstGeom prst="roundRect">
            <a:avLst>
              <a:gd name="adj" fmla="val 11290"/>
            </a:avLst>
          </a:prstGeom>
          <a:solidFill>
            <a:srgbClr val="F8FAFC"/>
          </a:solidFill>
          <a:ln w="9525">
            <a:solidFill>
              <a:srgbClr val="E2E8F0"/>
            </a:solidFill>
            <a:prstDash val="solid"/>
          </a:ln>
        </p:spPr>
      </p:sp>
      <p:sp>
        <p:nvSpPr>
          <p:cNvPr id="23" name="Text 18"/>
          <p:cNvSpPr/>
          <p:nvPr/>
        </p:nvSpPr>
        <p:spPr>
          <a:xfrm>
            <a:off x="7178040" y="3154680"/>
            <a:ext cx="2103120" cy="566928"/>
          </a:xfrm>
          <a:prstGeom prst="rect">
            <a:avLst/>
          </a:prstGeom>
          <a:noFill/>
          <a:ln/>
        </p:spPr>
        <p:txBody>
          <a:bodyPr wrap="square" lIns="0" tIns="0" rIns="0" bIns="0"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dependencia</a:t>
            </a:r>
            <a:endParaRPr lang="en-US" sz="1200" dirty="0"/>
          </a:p>
        </p:txBody>
      </p:sp>
      <p:sp>
        <p:nvSpPr>
          <p:cNvPr id="24" name="Shape 19"/>
          <p:cNvSpPr/>
          <p:nvPr/>
        </p:nvSpPr>
        <p:spPr>
          <a:xfrm>
            <a:off x="9601200" y="3282696"/>
            <a:ext cx="1691640" cy="310896"/>
          </a:xfrm>
          <a:prstGeom prst="roundRect">
            <a:avLst>
              <a:gd name="adj" fmla="val 50000"/>
            </a:avLst>
          </a:prstGeom>
          <a:solidFill>
            <a:srgbClr val="E0F2FE"/>
          </a:solidFill>
          <a:ln/>
        </p:spPr>
      </p:sp>
      <p:sp>
        <p:nvSpPr>
          <p:cNvPr id="25" name="Text 20"/>
          <p:cNvSpPr/>
          <p:nvPr/>
        </p:nvSpPr>
        <p:spPr>
          <a:xfrm>
            <a:off x="9601200" y="3282696"/>
            <a:ext cx="1691640" cy="310896"/>
          </a:xfrm>
          <a:prstGeom prst="rect">
            <a:avLst/>
          </a:prstGeom>
          <a:noFill/>
          <a:ln/>
        </p:spPr>
        <p:txBody>
          <a:bodyPr wrap="square" lIns="0" tIns="0" rIns="0" bIns="0" rtlCol="0" anchor="ctr"/>
          <a:lstStyle/>
          <a:p>
            <a:pPr algn="ctr" indent="0" marL="0">
              <a:buNone/>
            </a:pPr>
            <a:r>
              <a:rPr lang="en-US" sz="900" b="1" dirty="0">
                <a:solidFill>
                  <a:srgbClr val="0EA5E9"/>
                </a:solidFill>
                <a:latin typeface="Segoe UI" pitchFamily="34" charset="0"/>
                <a:ea typeface="Segoe UI" pitchFamily="34" charset="-122"/>
                <a:cs typeface="Segoe UI" pitchFamily="34" charset="-120"/>
              </a:rPr>
              <a:t>CATEGORÍA</a:t>
            </a:r>
            <a:endParaRPr lang="en-US" sz="900" dirty="0"/>
          </a:p>
        </p:txBody>
      </p:sp>
      <p:sp>
        <p:nvSpPr>
          <p:cNvPr id="26" name="Shape 21"/>
          <p:cNvSpPr/>
          <p:nvPr/>
        </p:nvSpPr>
        <p:spPr>
          <a:xfrm>
            <a:off x="6995160" y="3840480"/>
            <a:ext cx="4297680" cy="566928"/>
          </a:xfrm>
          <a:prstGeom prst="roundRect">
            <a:avLst>
              <a:gd name="adj" fmla="val 11290"/>
            </a:avLst>
          </a:prstGeom>
          <a:solidFill>
            <a:srgbClr val="F8FAFC"/>
          </a:solidFill>
          <a:ln w="9525">
            <a:solidFill>
              <a:srgbClr val="E2E8F0"/>
            </a:solidFill>
            <a:prstDash val="solid"/>
          </a:ln>
        </p:spPr>
      </p:sp>
      <p:sp>
        <p:nvSpPr>
          <p:cNvPr id="27" name="Text 22"/>
          <p:cNvSpPr/>
          <p:nvPr/>
        </p:nvSpPr>
        <p:spPr>
          <a:xfrm>
            <a:off x="7178040" y="3840480"/>
            <a:ext cx="2103120" cy="566928"/>
          </a:xfrm>
          <a:prstGeom prst="rect">
            <a:avLst/>
          </a:prstGeom>
          <a:noFill/>
          <a:ln/>
        </p:spPr>
        <p:txBody>
          <a:bodyPr wrap="square" lIns="0" tIns="0" rIns="0" bIns="0"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valor_tramite</a:t>
            </a:r>
            <a:endParaRPr lang="en-US" sz="1200" dirty="0"/>
          </a:p>
        </p:txBody>
      </p:sp>
      <p:sp>
        <p:nvSpPr>
          <p:cNvPr id="28" name="Shape 23"/>
          <p:cNvSpPr/>
          <p:nvPr/>
        </p:nvSpPr>
        <p:spPr>
          <a:xfrm>
            <a:off x="9601200" y="3968496"/>
            <a:ext cx="1691640" cy="310896"/>
          </a:xfrm>
          <a:prstGeom prst="roundRect">
            <a:avLst>
              <a:gd name="adj" fmla="val 50000"/>
            </a:avLst>
          </a:prstGeom>
          <a:solidFill>
            <a:srgbClr val="DCFCE7"/>
          </a:solidFill>
          <a:ln/>
        </p:spPr>
      </p:sp>
      <p:sp>
        <p:nvSpPr>
          <p:cNvPr id="29" name="Text 24"/>
          <p:cNvSpPr/>
          <p:nvPr/>
        </p:nvSpPr>
        <p:spPr>
          <a:xfrm>
            <a:off x="9601200" y="3968496"/>
            <a:ext cx="1691640" cy="310896"/>
          </a:xfrm>
          <a:prstGeom prst="rect">
            <a:avLst/>
          </a:prstGeom>
          <a:no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MEDIDA</a:t>
            </a:r>
            <a:endParaRPr lang="en-US" sz="900" dirty="0"/>
          </a:p>
        </p:txBody>
      </p:sp>
      <p:sp>
        <p:nvSpPr>
          <p:cNvPr id="30" name="Shape 25"/>
          <p:cNvSpPr/>
          <p:nvPr/>
        </p:nvSpPr>
        <p:spPr>
          <a:xfrm>
            <a:off x="6995160" y="4526280"/>
            <a:ext cx="4297680" cy="566928"/>
          </a:xfrm>
          <a:prstGeom prst="roundRect">
            <a:avLst>
              <a:gd name="adj" fmla="val 11290"/>
            </a:avLst>
          </a:prstGeom>
          <a:solidFill>
            <a:srgbClr val="F8FAFC"/>
          </a:solidFill>
          <a:ln w="9525">
            <a:solidFill>
              <a:srgbClr val="E2E8F0"/>
            </a:solidFill>
            <a:prstDash val="solid"/>
          </a:ln>
        </p:spPr>
      </p:sp>
      <p:sp>
        <p:nvSpPr>
          <p:cNvPr id="31" name="Text 26"/>
          <p:cNvSpPr/>
          <p:nvPr/>
        </p:nvSpPr>
        <p:spPr>
          <a:xfrm>
            <a:off x="7178040" y="4526280"/>
            <a:ext cx="2103120" cy="566928"/>
          </a:xfrm>
          <a:prstGeom prst="rect">
            <a:avLst/>
          </a:prstGeom>
          <a:noFill/>
          <a:ln/>
        </p:spPr>
        <p:txBody>
          <a:bodyPr wrap="square" lIns="0" tIns="0" rIns="0" bIns="0"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edad_ciudadano</a:t>
            </a:r>
            <a:endParaRPr lang="en-US" sz="1200" dirty="0"/>
          </a:p>
        </p:txBody>
      </p:sp>
      <p:sp>
        <p:nvSpPr>
          <p:cNvPr id="32" name="Shape 27"/>
          <p:cNvSpPr/>
          <p:nvPr/>
        </p:nvSpPr>
        <p:spPr>
          <a:xfrm>
            <a:off x="9601200" y="4654296"/>
            <a:ext cx="1691640" cy="310896"/>
          </a:xfrm>
          <a:prstGeom prst="roundRect">
            <a:avLst>
              <a:gd name="adj" fmla="val 50000"/>
            </a:avLst>
          </a:prstGeom>
          <a:solidFill>
            <a:srgbClr val="DCFCE7"/>
          </a:solidFill>
          <a:ln/>
        </p:spPr>
      </p:sp>
      <p:sp>
        <p:nvSpPr>
          <p:cNvPr id="33" name="Text 28"/>
          <p:cNvSpPr/>
          <p:nvPr/>
        </p:nvSpPr>
        <p:spPr>
          <a:xfrm>
            <a:off x="9601200" y="4654296"/>
            <a:ext cx="1691640" cy="310896"/>
          </a:xfrm>
          <a:prstGeom prst="rect">
            <a:avLst/>
          </a:prstGeom>
          <a:noFill/>
          <a:ln/>
        </p:spPr>
        <p:txBody>
          <a:bodyPr wrap="square" lIns="0" tIns="0" rIns="0" bIns="0"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MEDIDA (RANGOS)</a:t>
            </a:r>
            <a:endParaRPr lang="en-US" sz="900" dirty="0"/>
          </a:p>
        </p:txBody>
      </p:sp>
      <p:sp>
        <p:nvSpPr>
          <p:cNvPr id="34" name="Shape 29"/>
          <p:cNvSpPr/>
          <p:nvPr/>
        </p:nvSpPr>
        <p:spPr>
          <a:xfrm>
            <a:off x="6995160" y="5212080"/>
            <a:ext cx="4297680" cy="566928"/>
          </a:xfrm>
          <a:prstGeom prst="roundRect">
            <a:avLst>
              <a:gd name="adj" fmla="val 11290"/>
            </a:avLst>
          </a:prstGeom>
          <a:solidFill>
            <a:srgbClr val="F8FAFC"/>
          </a:solidFill>
          <a:ln w="9525">
            <a:solidFill>
              <a:srgbClr val="E2E8F0"/>
            </a:solidFill>
            <a:prstDash val="solid"/>
          </a:ln>
        </p:spPr>
      </p:sp>
      <p:sp>
        <p:nvSpPr>
          <p:cNvPr id="35" name="Text 30"/>
          <p:cNvSpPr/>
          <p:nvPr/>
        </p:nvSpPr>
        <p:spPr>
          <a:xfrm>
            <a:off x="7178040" y="5212080"/>
            <a:ext cx="2103120" cy="566928"/>
          </a:xfrm>
          <a:prstGeom prst="rect">
            <a:avLst/>
          </a:prstGeom>
          <a:noFill/>
          <a:ln/>
        </p:spPr>
        <p:txBody>
          <a:bodyPr wrap="square" lIns="0" tIns="0" rIns="0" bIns="0"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tipo_solicitud</a:t>
            </a:r>
            <a:endParaRPr lang="en-US" sz="1200" dirty="0"/>
          </a:p>
        </p:txBody>
      </p:sp>
      <p:sp>
        <p:nvSpPr>
          <p:cNvPr id="36" name="Shape 31"/>
          <p:cNvSpPr/>
          <p:nvPr/>
        </p:nvSpPr>
        <p:spPr>
          <a:xfrm>
            <a:off x="9601200" y="5340096"/>
            <a:ext cx="1691640" cy="310896"/>
          </a:xfrm>
          <a:prstGeom prst="roundRect">
            <a:avLst>
              <a:gd name="adj" fmla="val 50000"/>
            </a:avLst>
          </a:prstGeom>
          <a:solidFill>
            <a:srgbClr val="E0F2FE"/>
          </a:solidFill>
          <a:ln/>
        </p:spPr>
      </p:sp>
      <p:sp>
        <p:nvSpPr>
          <p:cNvPr id="37" name="Text 32"/>
          <p:cNvSpPr/>
          <p:nvPr/>
        </p:nvSpPr>
        <p:spPr>
          <a:xfrm>
            <a:off x="9601200" y="5340096"/>
            <a:ext cx="1691640" cy="310896"/>
          </a:xfrm>
          <a:prstGeom prst="rect">
            <a:avLst/>
          </a:prstGeom>
          <a:noFill/>
          <a:ln/>
        </p:spPr>
        <p:txBody>
          <a:bodyPr wrap="square" lIns="0" tIns="0" rIns="0" bIns="0" rtlCol="0" anchor="ctr"/>
          <a:lstStyle/>
          <a:p>
            <a:pPr algn="ctr" indent="0" marL="0">
              <a:buNone/>
            </a:pPr>
            <a:r>
              <a:rPr lang="en-US" sz="900" b="1" dirty="0">
                <a:solidFill>
                  <a:srgbClr val="0EA5E9"/>
                </a:solidFill>
                <a:latin typeface="Segoe UI" pitchFamily="34" charset="0"/>
                <a:ea typeface="Segoe UI" pitchFamily="34" charset="-122"/>
                <a:cs typeface="Segoe UI" pitchFamily="34" charset="-120"/>
              </a:rPr>
              <a:t>CATEGORÍA</a:t>
            </a:r>
            <a:endParaRPr lang="en-US" sz="900" dirty="0"/>
          </a:p>
        </p:txBody>
      </p:sp>
      <p:sp>
        <p:nvSpPr>
          <p:cNvPr id="38" name="Text 33"/>
          <p:cNvSpPr/>
          <p:nvPr/>
        </p:nvSpPr>
        <p:spPr>
          <a:xfrm>
            <a:off x="640080" y="6419088"/>
            <a:ext cx="4572000" cy="274320"/>
          </a:xfrm>
          <a:prstGeom prst="rect">
            <a:avLst/>
          </a:prstGeom>
          <a:noFill/>
          <a:ln/>
        </p:spPr>
        <p:txBody>
          <a:bodyPr wrap="square" lIns="0" tIns="0" rIns="0" bIns="0" rtlCol="0" anchor="ctr"/>
          <a:lstStyle/>
          <a:p>
            <a:pPr indent="0" marL="0">
              <a:buNone/>
            </a:pPr>
            <a:r>
              <a:rPr lang="en-US" sz="950" spc="100" kern="0" dirty="0">
                <a:solidFill>
                  <a:srgbClr val="64748B"/>
                </a:solidFill>
                <a:latin typeface="Segoe UI" pitchFamily="34" charset="0"/>
                <a:ea typeface="Segoe UI" pitchFamily="34" charset="-122"/>
                <a:cs typeface="Segoe UI" pitchFamily="34" charset="-120"/>
              </a:rPr>
              <a:t>EL ROSAL · LIENZO EJECUTIVO</a:t>
            </a:r>
            <a:endParaRPr lang="en-US" sz="950" dirty="0"/>
          </a:p>
        </p:txBody>
      </p:sp>
      <p:sp>
        <p:nvSpPr>
          <p:cNvPr id="39" name="Text 34"/>
          <p:cNvSpPr/>
          <p:nvPr/>
        </p:nvSpPr>
        <p:spPr>
          <a:xfrm>
            <a:off x="11000232" y="6419088"/>
            <a:ext cx="914400" cy="274320"/>
          </a:xfrm>
          <a:prstGeom prst="rect">
            <a:avLst/>
          </a:prstGeom>
          <a:noFill/>
          <a:ln/>
        </p:spPr>
        <p:txBody>
          <a:bodyPr wrap="square" lIns="0" tIns="0" rIns="0" bIns="0" rtlCol="0" anchor="ctr"/>
          <a:lstStyle/>
          <a:p>
            <a:pPr algn="r" indent="0" marL="0">
              <a:buNone/>
            </a:pPr>
            <a:r>
              <a:rPr lang="en-US" sz="950" dirty="0">
                <a:solidFill>
                  <a:srgbClr val="64748B"/>
                </a:solidFill>
                <a:latin typeface="Segoe UI" pitchFamily="34" charset="0"/>
                <a:ea typeface="Segoe UI" pitchFamily="34" charset="-122"/>
                <a:cs typeface="Segoe UI" pitchFamily="34" charset="-120"/>
              </a:rPr>
              <a:t>05 / 10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50" b="1" spc="200" kern="0" dirty="0">
                <a:solidFill>
                  <a:srgbClr val="C084FC"/>
                </a:solidFill>
                <a:latin typeface="Segoe UI" pitchFamily="34" charset="0"/>
                <a:ea typeface="Segoe UI" pitchFamily="34" charset="-122"/>
                <a:cs typeface="Segoe UI" pitchFamily="34" charset="-120"/>
              </a:rPr>
              <a:t>TECNOLOGÍAS EMERGENTES E IA · 20 PTS</a:t>
            </a:r>
            <a:endParaRPr lang="en-US" sz="1250" dirty="0"/>
          </a:p>
        </p:txBody>
      </p:sp>
      <p:sp>
        <p:nvSpPr>
          <p:cNvPr id="3" name="Text 1"/>
          <p:cNvSpPr/>
          <p:nvPr/>
        </p:nvSpPr>
        <p:spPr>
          <a:xfrm>
            <a:off x="640080" y="804672"/>
            <a:ext cx="10789920" cy="640080"/>
          </a:xfrm>
          <a:prstGeom prst="rect">
            <a:avLst/>
          </a:prstGeom>
          <a:noFill/>
          <a:ln/>
        </p:spPr>
        <p:txBody>
          <a:bodyPr wrap="square" lIns="0" tIns="0" rIns="0" bIns="0"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Inteligencia Artificial y Análisis Predictivo</a:t>
            </a:r>
            <a:endParaRPr lang="en-US" sz="2800" dirty="0"/>
          </a:p>
        </p:txBody>
      </p:sp>
      <p:sp>
        <p:nvSpPr>
          <p:cNvPr id="4" name="Shape 2"/>
          <p:cNvSpPr/>
          <p:nvPr/>
        </p:nvSpPr>
        <p:spPr>
          <a:xfrm>
            <a:off x="640080" y="1691640"/>
            <a:ext cx="3429000" cy="2514600"/>
          </a:xfrm>
          <a:prstGeom prst="roundRect">
            <a:avLst>
              <a:gd name="adj" fmla="val 4364"/>
            </a:avLst>
          </a:prstGeom>
          <a:solidFill>
            <a:srgbClr val="1E3A5F"/>
          </a:solidFill>
          <a:ln/>
        </p:spPr>
      </p:sp>
      <p:sp>
        <p:nvSpPr>
          <p:cNvPr id="5" name="Shape 3"/>
          <p:cNvSpPr/>
          <p:nvPr/>
        </p:nvSpPr>
        <p:spPr>
          <a:xfrm>
            <a:off x="960120" y="1984248"/>
            <a:ext cx="621792" cy="621792"/>
          </a:xfrm>
          <a:prstGeom prst="ellipse">
            <a:avLst/>
          </a:prstGeom>
          <a:solidFill>
            <a:srgbClr val="9333EA"/>
          </a:solidFill>
          <a:ln/>
        </p:spPr>
      </p:sp>
      <p:pic>
        <p:nvPicPr>
          <p:cNvPr id="6" name="Image 0" descr="/home/claude/pptx-lienzo/icons/cpu.png">    </p:cNvPr>
          <p:cNvPicPr>
            <a:picLocks noChangeAspect="1"/>
          </p:cNvPicPr>
          <p:nvPr/>
        </p:nvPicPr>
        <p:blipFill>
          <a:blip r:embed="rId1"/>
          <a:stretch>
            <a:fillRect/>
          </a:stretch>
        </p:blipFill>
        <p:spPr>
          <a:xfrm>
            <a:off x="1096914" y="2121042"/>
            <a:ext cx="348204" cy="348204"/>
          </a:xfrm>
          <a:prstGeom prst="rect">
            <a:avLst/>
          </a:prstGeom>
        </p:spPr>
      </p:pic>
      <p:sp>
        <p:nvSpPr>
          <p:cNvPr id="7" name="Text 4"/>
          <p:cNvSpPr/>
          <p:nvPr/>
        </p:nvSpPr>
        <p:spPr>
          <a:xfrm>
            <a:off x="960120" y="2743200"/>
            <a:ext cx="2788920" cy="365760"/>
          </a:xfrm>
          <a:prstGeom prst="rect">
            <a:avLst/>
          </a:prstGeom>
          <a:noFill/>
          <a:ln/>
        </p:spPr>
        <p:txBody>
          <a:bodyPr wrap="square" lIns="0" tIns="0" rIns="0" bIns="0" rtlCol="0" anchor="ctr"/>
          <a:lstStyle/>
          <a:p>
            <a:pPr indent="0" marL="0">
              <a:buNone/>
            </a:pPr>
            <a:r>
              <a:rPr lang="en-US" sz="1650" b="1" dirty="0">
                <a:solidFill>
                  <a:srgbClr val="FFFFFF"/>
                </a:solidFill>
                <a:latin typeface="Segoe UI" pitchFamily="34" charset="0"/>
                <a:ea typeface="Segoe UI" pitchFamily="34" charset="-122"/>
                <a:cs typeface="Segoe UI" pitchFamily="34" charset="-120"/>
              </a:rPr>
              <a:t>IA Heurística</a:t>
            </a:r>
            <a:endParaRPr lang="en-US" sz="1650" dirty="0"/>
          </a:p>
        </p:txBody>
      </p:sp>
      <p:sp>
        <p:nvSpPr>
          <p:cNvPr id="8" name="Text 5"/>
          <p:cNvSpPr/>
          <p:nvPr/>
        </p:nvSpPr>
        <p:spPr>
          <a:xfrm>
            <a:off x="960120" y="3136392"/>
            <a:ext cx="2788920" cy="960120"/>
          </a:xfrm>
          <a:prstGeom prst="rect">
            <a:avLst/>
          </a:prstGeom>
          <a:noFill/>
          <a:ln/>
        </p:spPr>
        <p:txBody>
          <a:bodyPr wrap="square" lIns="0" tIns="0" rIns="0" bIns="0" rtlCol="0" anchor="ctr"/>
          <a:lstStyle/>
          <a:p>
            <a:pPr indent="0" marL="0">
              <a:lnSpc>
                <a:spcPct val="120000"/>
              </a:lnSpc>
              <a:buNone/>
            </a:pPr>
            <a:r>
              <a:rPr lang="en-US" sz="1100" dirty="0">
                <a:solidFill>
                  <a:srgbClr val="CBD5E1"/>
                </a:solidFill>
                <a:latin typeface="Segoe UI" pitchFamily="34" charset="0"/>
                <a:ea typeface="Segoe UI" pitchFamily="34" charset="-122"/>
                <a:cs typeface="Segoe UI" pitchFamily="34" charset="-120"/>
              </a:rPr>
              <a:t>Sugiere automáticamente los KPIs y gráficos más relevantes según la estructura de los datos.</a:t>
            </a:r>
            <a:endParaRPr lang="en-US" sz="1100" dirty="0"/>
          </a:p>
        </p:txBody>
      </p:sp>
      <p:sp>
        <p:nvSpPr>
          <p:cNvPr id="9" name="Shape 6"/>
          <p:cNvSpPr/>
          <p:nvPr/>
        </p:nvSpPr>
        <p:spPr>
          <a:xfrm>
            <a:off x="4389120" y="1691640"/>
            <a:ext cx="3429000" cy="2514600"/>
          </a:xfrm>
          <a:prstGeom prst="roundRect">
            <a:avLst>
              <a:gd name="adj" fmla="val 4364"/>
            </a:avLst>
          </a:prstGeom>
          <a:solidFill>
            <a:srgbClr val="1E3A5F"/>
          </a:solidFill>
          <a:ln/>
        </p:spPr>
      </p:sp>
      <p:sp>
        <p:nvSpPr>
          <p:cNvPr id="10" name="Shape 7"/>
          <p:cNvSpPr/>
          <p:nvPr/>
        </p:nvSpPr>
        <p:spPr>
          <a:xfrm>
            <a:off x="4709160" y="1984248"/>
            <a:ext cx="621792" cy="621792"/>
          </a:xfrm>
          <a:prstGeom prst="ellipse">
            <a:avLst/>
          </a:prstGeom>
          <a:solidFill>
            <a:srgbClr val="9333EA"/>
          </a:solidFill>
          <a:ln/>
        </p:spPr>
      </p:sp>
      <p:pic>
        <p:nvPicPr>
          <p:cNvPr id="11" name="Image 1" descr="/home/claude/pptx-lienzo/icons/trending.png">    </p:cNvPr>
          <p:cNvPicPr>
            <a:picLocks noChangeAspect="1"/>
          </p:cNvPicPr>
          <p:nvPr/>
        </p:nvPicPr>
        <p:blipFill>
          <a:blip r:embed="rId2"/>
          <a:stretch>
            <a:fillRect/>
          </a:stretch>
        </p:blipFill>
        <p:spPr>
          <a:xfrm>
            <a:off x="4845954" y="2121042"/>
            <a:ext cx="348204" cy="348204"/>
          </a:xfrm>
          <a:prstGeom prst="rect">
            <a:avLst/>
          </a:prstGeom>
        </p:spPr>
      </p:pic>
      <p:sp>
        <p:nvSpPr>
          <p:cNvPr id="12" name="Text 8"/>
          <p:cNvSpPr/>
          <p:nvPr/>
        </p:nvSpPr>
        <p:spPr>
          <a:xfrm>
            <a:off x="4709160" y="2743200"/>
            <a:ext cx="2788920" cy="365760"/>
          </a:xfrm>
          <a:prstGeom prst="rect">
            <a:avLst/>
          </a:prstGeom>
          <a:noFill/>
          <a:ln/>
        </p:spPr>
        <p:txBody>
          <a:bodyPr wrap="square" lIns="0" tIns="0" rIns="0" bIns="0" rtlCol="0" anchor="ctr"/>
          <a:lstStyle/>
          <a:p>
            <a:pPr indent="0" marL="0">
              <a:buNone/>
            </a:pPr>
            <a:r>
              <a:rPr lang="en-US" sz="1650" b="1" dirty="0">
                <a:solidFill>
                  <a:srgbClr val="FFFFFF"/>
                </a:solidFill>
                <a:latin typeface="Segoe UI" pitchFamily="34" charset="0"/>
                <a:ea typeface="Segoe UI" pitchFamily="34" charset="-122"/>
                <a:cs typeface="Segoe UI" pitchFamily="34" charset="-120"/>
              </a:rPr>
              <a:t>Predictivo</a:t>
            </a:r>
            <a:endParaRPr lang="en-US" sz="1650" dirty="0"/>
          </a:p>
        </p:txBody>
      </p:sp>
      <p:sp>
        <p:nvSpPr>
          <p:cNvPr id="13" name="Text 9"/>
          <p:cNvSpPr/>
          <p:nvPr/>
        </p:nvSpPr>
        <p:spPr>
          <a:xfrm>
            <a:off x="4709160" y="3136392"/>
            <a:ext cx="2788920" cy="960120"/>
          </a:xfrm>
          <a:prstGeom prst="rect">
            <a:avLst/>
          </a:prstGeom>
          <a:noFill/>
          <a:ln/>
        </p:spPr>
        <p:txBody>
          <a:bodyPr wrap="square" lIns="0" tIns="0" rIns="0" bIns="0" rtlCol="0" anchor="ctr"/>
          <a:lstStyle/>
          <a:p>
            <a:pPr indent="0" marL="0">
              <a:lnSpc>
                <a:spcPct val="120000"/>
              </a:lnSpc>
              <a:buNone/>
            </a:pPr>
            <a:r>
              <a:rPr lang="en-US" sz="1100" dirty="0">
                <a:solidFill>
                  <a:srgbClr val="CBD5E1"/>
                </a:solidFill>
                <a:latin typeface="Segoe UI" pitchFamily="34" charset="0"/>
                <a:ea typeface="Segoe UI" pitchFamily="34" charset="-122"/>
                <a:cs typeface="Segoe UI" pitchFamily="34" charset="-120"/>
              </a:rPr>
              <a:t>Calcula el crecimiento histórico promedio y proyecta el próximo periodo, marcado como "Estimado".</a:t>
            </a:r>
            <a:endParaRPr lang="en-US" sz="1100" dirty="0"/>
          </a:p>
        </p:txBody>
      </p:sp>
      <p:sp>
        <p:nvSpPr>
          <p:cNvPr id="14" name="Shape 10"/>
          <p:cNvSpPr/>
          <p:nvPr/>
        </p:nvSpPr>
        <p:spPr>
          <a:xfrm>
            <a:off x="8138160" y="1691640"/>
            <a:ext cx="3429000" cy="2514600"/>
          </a:xfrm>
          <a:prstGeom prst="roundRect">
            <a:avLst>
              <a:gd name="adj" fmla="val 4364"/>
            </a:avLst>
          </a:prstGeom>
          <a:solidFill>
            <a:srgbClr val="1E3A5F"/>
          </a:solidFill>
          <a:ln/>
        </p:spPr>
      </p:sp>
      <p:sp>
        <p:nvSpPr>
          <p:cNvPr id="15" name="Shape 11"/>
          <p:cNvSpPr/>
          <p:nvPr/>
        </p:nvSpPr>
        <p:spPr>
          <a:xfrm>
            <a:off x="8458200" y="1984248"/>
            <a:ext cx="621792" cy="621792"/>
          </a:xfrm>
          <a:prstGeom prst="ellipse">
            <a:avLst/>
          </a:prstGeom>
          <a:solidFill>
            <a:srgbClr val="9333EA"/>
          </a:solidFill>
          <a:ln/>
        </p:spPr>
      </p:sp>
      <p:pic>
        <p:nvPicPr>
          <p:cNvPr id="16" name="Image 2" descr="/home/claude/pptx-lienzo/icons/sliders.png">    </p:cNvPr>
          <p:cNvPicPr>
            <a:picLocks noChangeAspect="1"/>
          </p:cNvPicPr>
          <p:nvPr/>
        </p:nvPicPr>
        <p:blipFill>
          <a:blip r:embed="rId3"/>
          <a:stretch>
            <a:fillRect/>
          </a:stretch>
        </p:blipFill>
        <p:spPr>
          <a:xfrm>
            <a:off x="8594994" y="2121042"/>
            <a:ext cx="348204" cy="348204"/>
          </a:xfrm>
          <a:prstGeom prst="rect">
            <a:avLst/>
          </a:prstGeom>
        </p:spPr>
      </p:pic>
      <p:sp>
        <p:nvSpPr>
          <p:cNvPr id="17" name="Text 12"/>
          <p:cNvSpPr/>
          <p:nvPr/>
        </p:nvSpPr>
        <p:spPr>
          <a:xfrm>
            <a:off x="8458200" y="2743200"/>
            <a:ext cx="2788920" cy="365760"/>
          </a:xfrm>
          <a:prstGeom prst="rect">
            <a:avLst/>
          </a:prstGeom>
          <a:noFill/>
          <a:ln/>
        </p:spPr>
        <p:txBody>
          <a:bodyPr wrap="square" lIns="0" tIns="0" rIns="0" bIns="0" rtlCol="0" anchor="ctr"/>
          <a:lstStyle/>
          <a:p>
            <a:pPr indent="0" marL="0">
              <a:buNone/>
            </a:pPr>
            <a:r>
              <a:rPr lang="en-US" sz="1650" b="1" dirty="0">
                <a:solidFill>
                  <a:srgbClr val="FFFFFF"/>
                </a:solidFill>
                <a:latin typeface="Segoe UI" pitchFamily="34" charset="0"/>
                <a:ea typeface="Segoe UI" pitchFamily="34" charset="-122"/>
                <a:cs typeface="Segoe UI" pitchFamily="34" charset="-120"/>
              </a:rPr>
              <a:t>Control Manual</a:t>
            </a:r>
            <a:endParaRPr lang="en-US" sz="1650" dirty="0"/>
          </a:p>
        </p:txBody>
      </p:sp>
      <p:sp>
        <p:nvSpPr>
          <p:cNvPr id="18" name="Text 13"/>
          <p:cNvSpPr/>
          <p:nvPr/>
        </p:nvSpPr>
        <p:spPr>
          <a:xfrm>
            <a:off x="8458200" y="3136392"/>
            <a:ext cx="2788920" cy="960120"/>
          </a:xfrm>
          <a:prstGeom prst="rect">
            <a:avLst/>
          </a:prstGeom>
          <a:noFill/>
          <a:ln/>
        </p:spPr>
        <p:txBody>
          <a:bodyPr wrap="square" lIns="0" tIns="0" rIns="0" bIns="0" rtlCol="0" anchor="ctr"/>
          <a:lstStyle/>
          <a:p>
            <a:pPr indent="0" marL="0">
              <a:lnSpc>
                <a:spcPct val="120000"/>
              </a:lnSpc>
              <a:buNone/>
            </a:pPr>
            <a:r>
              <a:rPr lang="en-US" sz="1100" dirty="0">
                <a:solidFill>
                  <a:srgbClr val="CBD5E1"/>
                </a:solidFill>
                <a:latin typeface="Segoe UI" pitchFamily="34" charset="0"/>
                <a:ea typeface="Segoe UI" pitchFamily="34" charset="-122"/>
                <a:cs typeface="Segoe UI" pitchFamily="34" charset="-120"/>
              </a:rPr>
              <a:t>El usuario cambia el tipo de gráfico o el KPI propuesto en un clic, sin perder la automatización.</a:t>
            </a:r>
            <a:endParaRPr lang="en-US" sz="1100" dirty="0"/>
          </a:p>
        </p:txBody>
      </p:sp>
      <p:sp>
        <p:nvSpPr>
          <p:cNvPr id="19" name="Shape 14"/>
          <p:cNvSpPr/>
          <p:nvPr/>
        </p:nvSpPr>
        <p:spPr>
          <a:xfrm>
            <a:off x="640080" y="4480560"/>
            <a:ext cx="10881360" cy="1600200"/>
          </a:xfrm>
          <a:prstGeom prst="roundRect">
            <a:avLst>
              <a:gd name="adj" fmla="val 5714"/>
            </a:avLst>
          </a:prstGeom>
          <a:solidFill>
            <a:srgbClr val="FFFFFF"/>
          </a:solidFill>
          <a:ln/>
        </p:spPr>
      </p:sp>
      <p:sp>
        <p:nvSpPr>
          <p:cNvPr id="20" name="Text 15"/>
          <p:cNvSpPr/>
          <p:nvPr/>
        </p:nvSpPr>
        <p:spPr>
          <a:xfrm>
            <a:off x="960120" y="4681728"/>
            <a:ext cx="10241280" cy="320040"/>
          </a:xfrm>
          <a:prstGeom prst="rect">
            <a:avLst/>
          </a:prstGeom>
          <a:noFill/>
          <a:ln/>
        </p:spPr>
        <p:txBody>
          <a:bodyPr wrap="square" lIns="0" tIns="0" rIns="0" bIns="0" rtlCol="0" anchor="ctr"/>
          <a:lstStyle/>
          <a:p>
            <a:pPr indent="0" marL="0">
              <a:buNone/>
            </a:pPr>
            <a:r>
              <a:rPr lang="en-US" sz="1350" b="1" dirty="0">
                <a:solidFill>
                  <a:srgbClr val="0F172A"/>
                </a:solidFill>
                <a:latin typeface="Segoe UI" pitchFamily="34" charset="0"/>
                <a:ea typeface="Segoe UI" pitchFamily="34" charset="-122"/>
                <a:cs typeface="Segoe UI" pitchFamily="34" charset="-120"/>
              </a:rPr>
              <a:t>Proyección de Presupuesto por Vigencia</a:t>
            </a:r>
            <a:endParaRPr lang="en-US" sz="1350" dirty="0"/>
          </a:p>
        </p:txBody>
      </p:sp>
      <p:sp>
        <p:nvSpPr>
          <p:cNvPr id="21" name="Text 16"/>
          <p:cNvSpPr/>
          <p:nvPr/>
        </p:nvSpPr>
        <p:spPr>
          <a:xfrm>
            <a:off x="960120" y="5193792"/>
            <a:ext cx="2286000" cy="274320"/>
          </a:xfrm>
          <a:prstGeom prst="rect">
            <a:avLst/>
          </a:prstGeom>
          <a:noFill/>
          <a:ln/>
        </p:spPr>
        <p:txBody>
          <a:bodyPr wrap="square" lIns="0" tIns="0" rIns="0" bIns="0" rtlCol="0" anchor="ctr"/>
          <a:lstStyle/>
          <a:p>
            <a:pPr indent="0" marL="0">
              <a:buNone/>
            </a:pPr>
            <a:r>
              <a:rPr lang="en-US" sz="1100" dirty="0">
                <a:solidFill>
                  <a:srgbClr val="64748B"/>
                </a:solidFill>
                <a:latin typeface="Segoe UI" pitchFamily="34" charset="0"/>
                <a:ea typeface="Segoe UI" pitchFamily="34" charset="-122"/>
                <a:cs typeface="Segoe UI" pitchFamily="34" charset="-120"/>
              </a:rPr>
              <a:t>2023</a:t>
            </a:r>
            <a:endParaRPr lang="en-US" sz="1100" dirty="0"/>
          </a:p>
        </p:txBody>
      </p:sp>
      <p:sp>
        <p:nvSpPr>
          <p:cNvPr id="22" name="Text 17"/>
          <p:cNvSpPr/>
          <p:nvPr/>
        </p:nvSpPr>
        <p:spPr>
          <a:xfrm>
            <a:off x="960120" y="5468112"/>
            <a:ext cx="2286000" cy="365760"/>
          </a:xfrm>
          <a:prstGeom prst="rect">
            <a:avLst/>
          </a:prstGeom>
          <a:noFill/>
          <a:ln/>
        </p:spPr>
        <p:txBody>
          <a:bodyPr wrap="square" lIns="0" tIns="0" rIns="0" bIns="0" rtlCol="0" anchor="ctr"/>
          <a:lstStyle/>
          <a:p>
            <a:pPr indent="0" marL="0">
              <a:buNone/>
            </a:pPr>
            <a:r>
              <a:rPr lang="en-US" sz="1700" b="1" dirty="0">
                <a:solidFill>
                  <a:srgbClr val="0F172A"/>
                </a:solidFill>
                <a:latin typeface="Segoe UI" pitchFamily="34" charset="0"/>
                <a:ea typeface="Segoe UI" pitchFamily="34" charset="-122"/>
                <a:cs typeface="Segoe UI" pitchFamily="34" charset="-120"/>
              </a:rPr>
              <a:t>$14.200 M</a:t>
            </a:r>
            <a:endParaRPr lang="en-US" sz="1700" dirty="0"/>
          </a:p>
        </p:txBody>
      </p:sp>
      <p:sp>
        <p:nvSpPr>
          <p:cNvPr id="23" name="Text 18"/>
          <p:cNvSpPr/>
          <p:nvPr/>
        </p:nvSpPr>
        <p:spPr>
          <a:xfrm>
            <a:off x="3063240" y="5468112"/>
            <a:ext cx="365760" cy="365760"/>
          </a:xfrm>
          <a:prstGeom prst="rect">
            <a:avLst/>
          </a:prstGeom>
          <a:noFill/>
          <a:ln/>
        </p:spPr>
        <p:txBody>
          <a:bodyPr wrap="square" lIns="0" tIns="0" rIns="0" bIns="0" rtlCol="0" anchor="ctr"/>
          <a:lstStyle/>
          <a:p>
            <a:pPr indent="0" marL="0">
              <a:buNone/>
            </a:pPr>
            <a:r>
              <a:rPr lang="en-US" sz="1700" b="1" dirty="0">
                <a:solidFill>
                  <a:srgbClr val="16A34A"/>
                </a:solidFill>
                <a:latin typeface="Segoe UI" pitchFamily="34" charset="0"/>
                <a:ea typeface="Segoe UI" pitchFamily="34" charset="-122"/>
                <a:cs typeface="Segoe UI" pitchFamily="34" charset="-120"/>
              </a:rPr>
              <a:t>↗</a:t>
            </a:r>
            <a:endParaRPr lang="en-US" sz="1700" dirty="0"/>
          </a:p>
        </p:txBody>
      </p:sp>
      <p:sp>
        <p:nvSpPr>
          <p:cNvPr id="24" name="Text 19"/>
          <p:cNvSpPr/>
          <p:nvPr/>
        </p:nvSpPr>
        <p:spPr>
          <a:xfrm>
            <a:off x="3520440" y="5193792"/>
            <a:ext cx="2286000" cy="274320"/>
          </a:xfrm>
          <a:prstGeom prst="rect">
            <a:avLst/>
          </a:prstGeom>
          <a:noFill/>
          <a:ln/>
        </p:spPr>
        <p:txBody>
          <a:bodyPr wrap="square" lIns="0" tIns="0" rIns="0" bIns="0" rtlCol="0" anchor="ctr"/>
          <a:lstStyle/>
          <a:p>
            <a:pPr indent="0" marL="0">
              <a:buNone/>
            </a:pPr>
            <a:r>
              <a:rPr lang="en-US" sz="1100" dirty="0">
                <a:solidFill>
                  <a:srgbClr val="64748B"/>
                </a:solidFill>
                <a:latin typeface="Segoe UI" pitchFamily="34" charset="0"/>
                <a:ea typeface="Segoe UI" pitchFamily="34" charset="-122"/>
                <a:cs typeface="Segoe UI" pitchFamily="34" charset="-120"/>
              </a:rPr>
              <a:t>2024</a:t>
            </a:r>
            <a:endParaRPr lang="en-US" sz="1100" dirty="0"/>
          </a:p>
        </p:txBody>
      </p:sp>
      <p:sp>
        <p:nvSpPr>
          <p:cNvPr id="25" name="Text 20"/>
          <p:cNvSpPr/>
          <p:nvPr/>
        </p:nvSpPr>
        <p:spPr>
          <a:xfrm>
            <a:off x="3520440" y="5468112"/>
            <a:ext cx="2286000" cy="365760"/>
          </a:xfrm>
          <a:prstGeom prst="rect">
            <a:avLst/>
          </a:prstGeom>
          <a:noFill/>
          <a:ln/>
        </p:spPr>
        <p:txBody>
          <a:bodyPr wrap="square" lIns="0" tIns="0" rIns="0" bIns="0" rtlCol="0" anchor="ctr"/>
          <a:lstStyle/>
          <a:p>
            <a:pPr indent="0" marL="0">
              <a:buNone/>
            </a:pPr>
            <a:r>
              <a:rPr lang="en-US" sz="1700" b="1" dirty="0">
                <a:solidFill>
                  <a:srgbClr val="0F172A"/>
                </a:solidFill>
                <a:latin typeface="Segoe UI" pitchFamily="34" charset="0"/>
                <a:ea typeface="Segoe UI" pitchFamily="34" charset="-122"/>
                <a:cs typeface="Segoe UI" pitchFamily="34" charset="-120"/>
              </a:rPr>
              <a:t>$16.320 M</a:t>
            </a:r>
            <a:endParaRPr lang="en-US" sz="1700" dirty="0"/>
          </a:p>
        </p:txBody>
      </p:sp>
      <p:sp>
        <p:nvSpPr>
          <p:cNvPr id="26" name="Text 21"/>
          <p:cNvSpPr/>
          <p:nvPr/>
        </p:nvSpPr>
        <p:spPr>
          <a:xfrm>
            <a:off x="5623560" y="5468112"/>
            <a:ext cx="365760" cy="365760"/>
          </a:xfrm>
          <a:prstGeom prst="rect">
            <a:avLst/>
          </a:prstGeom>
          <a:noFill/>
          <a:ln/>
        </p:spPr>
        <p:txBody>
          <a:bodyPr wrap="square" lIns="0" tIns="0" rIns="0" bIns="0" rtlCol="0" anchor="ctr"/>
          <a:lstStyle/>
          <a:p>
            <a:pPr indent="0" marL="0">
              <a:buNone/>
            </a:pPr>
            <a:r>
              <a:rPr lang="en-US" sz="1700" b="1" dirty="0">
                <a:solidFill>
                  <a:srgbClr val="16A34A"/>
                </a:solidFill>
                <a:latin typeface="Segoe UI" pitchFamily="34" charset="0"/>
                <a:ea typeface="Segoe UI" pitchFamily="34" charset="-122"/>
                <a:cs typeface="Segoe UI" pitchFamily="34" charset="-120"/>
              </a:rPr>
              <a:t>↗</a:t>
            </a:r>
            <a:endParaRPr lang="en-US" sz="1700" dirty="0"/>
          </a:p>
        </p:txBody>
      </p:sp>
      <p:sp>
        <p:nvSpPr>
          <p:cNvPr id="27" name="Text 22"/>
          <p:cNvSpPr/>
          <p:nvPr/>
        </p:nvSpPr>
        <p:spPr>
          <a:xfrm>
            <a:off x="6080760" y="5193792"/>
            <a:ext cx="2286000" cy="274320"/>
          </a:xfrm>
          <a:prstGeom prst="rect">
            <a:avLst/>
          </a:prstGeom>
          <a:noFill/>
          <a:ln/>
        </p:spPr>
        <p:txBody>
          <a:bodyPr wrap="square" lIns="0" tIns="0" rIns="0" bIns="0" rtlCol="0" anchor="ctr"/>
          <a:lstStyle/>
          <a:p>
            <a:pPr indent="0" marL="0">
              <a:buNone/>
            </a:pPr>
            <a:r>
              <a:rPr lang="en-US" sz="1100" dirty="0">
                <a:solidFill>
                  <a:srgbClr val="64748B"/>
                </a:solidFill>
                <a:latin typeface="Segoe UI" pitchFamily="34" charset="0"/>
                <a:ea typeface="Segoe UI" pitchFamily="34" charset="-122"/>
                <a:cs typeface="Segoe UI" pitchFamily="34" charset="-120"/>
              </a:rPr>
              <a:t>2025</a:t>
            </a:r>
            <a:endParaRPr lang="en-US" sz="1100" dirty="0"/>
          </a:p>
        </p:txBody>
      </p:sp>
      <p:sp>
        <p:nvSpPr>
          <p:cNvPr id="28" name="Text 23"/>
          <p:cNvSpPr/>
          <p:nvPr/>
        </p:nvSpPr>
        <p:spPr>
          <a:xfrm>
            <a:off x="6080760" y="5468112"/>
            <a:ext cx="2286000" cy="365760"/>
          </a:xfrm>
          <a:prstGeom prst="rect">
            <a:avLst/>
          </a:prstGeom>
          <a:noFill/>
          <a:ln/>
        </p:spPr>
        <p:txBody>
          <a:bodyPr wrap="square" lIns="0" tIns="0" rIns="0" bIns="0" rtlCol="0" anchor="ctr"/>
          <a:lstStyle/>
          <a:p>
            <a:pPr indent="0" marL="0">
              <a:buNone/>
            </a:pPr>
            <a:r>
              <a:rPr lang="en-US" sz="1700" b="1" dirty="0">
                <a:solidFill>
                  <a:srgbClr val="0F172A"/>
                </a:solidFill>
                <a:latin typeface="Segoe UI" pitchFamily="34" charset="0"/>
                <a:ea typeface="Segoe UI" pitchFamily="34" charset="-122"/>
                <a:cs typeface="Segoe UI" pitchFamily="34" charset="-120"/>
              </a:rPr>
              <a:t>$17.852 M</a:t>
            </a:r>
            <a:endParaRPr lang="en-US" sz="1700" dirty="0"/>
          </a:p>
        </p:txBody>
      </p:sp>
      <p:sp>
        <p:nvSpPr>
          <p:cNvPr id="29" name="Text 24"/>
          <p:cNvSpPr/>
          <p:nvPr/>
        </p:nvSpPr>
        <p:spPr>
          <a:xfrm>
            <a:off x="8183880" y="5468112"/>
            <a:ext cx="365760" cy="365760"/>
          </a:xfrm>
          <a:prstGeom prst="rect">
            <a:avLst/>
          </a:prstGeom>
          <a:noFill/>
          <a:ln/>
        </p:spPr>
        <p:txBody>
          <a:bodyPr wrap="square" lIns="0" tIns="0" rIns="0" bIns="0" rtlCol="0" anchor="ctr"/>
          <a:lstStyle/>
          <a:p>
            <a:pPr indent="0" marL="0">
              <a:buNone/>
            </a:pPr>
            <a:r>
              <a:rPr lang="en-US" sz="1700" b="1" dirty="0">
                <a:solidFill>
                  <a:srgbClr val="16A34A"/>
                </a:solidFill>
                <a:latin typeface="Segoe UI" pitchFamily="34" charset="0"/>
                <a:ea typeface="Segoe UI" pitchFamily="34" charset="-122"/>
                <a:cs typeface="Segoe UI" pitchFamily="34" charset="-120"/>
              </a:rPr>
              <a:t>↗</a:t>
            </a:r>
            <a:endParaRPr lang="en-US" sz="1700" dirty="0"/>
          </a:p>
        </p:txBody>
      </p:sp>
      <p:sp>
        <p:nvSpPr>
          <p:cNvPr id="30" name="Shape 25"/>
          <p:cNvSpPr/>
          <p:nvPr/>
        </p:nvSpPr>
        <p:spPr>
          <a:xfrm>
            <a:off x="8549640" y="5102352"/>
            <a:ext cx="2423160" cy="914400"/>
          </a:xfrm>
          <a:prstGeom prst="roundRect">
            <a:avLst>
              <a:gd name="adj" fmla="val 8000"/>
            </a:avLst>
          </a:prstGeom>
          <a:solidFill>
            <a:srgbClr val="F3E8FF"/>
          </a:solidFill>
          <a:ln/>
        </p:spPr>
      </p:sp>
      <p:sp>
        <p:nvSpPr>
          <p:cNvPr id="31" name="Text 26"/>
          <p:cNvSpPr/>
          <p:nvPr/>
        </p:nvSpPr>
        <p:spPr>
          <a:xfrm>
            <a:off x="8641080" y="5193792"/>
            <a:ext cx="2286000" cy="274320"/>
          </a:xfrm>
          <a:prstGeom prst="rect">
            <a:avLst/>
          </a:prstGeom>
          <a:noFill/>
          <a:ln/>
        </p:spPr>
        <p:txBody>
          <a:bodyPr wrap="square" lIns="0" tIns="0" rIns="0" bIns="0" rtlCol="0" anchor="ctr"/>
          <a:lstStyle/>
          <a:p>
            <a:pPr indent="0" marL="0">
              <a:buNone/>
            </a:pPr>
            <a:r>
              <a:rPr lang="en-US" sz="1100" dirty="0">
                <a:solidFill>
                  <a:srgbClr val="64748B"/>
                </a:solidFill>
                <a:latin typeface="Segoe UI" pitchFamily="34" charset="0"/>
                <a:ea typeface="Segoe UI" pitchFamily="34" charset="-122"/>
                <a:cs typeface="Segoe UI" pitchFamily="34" charset="-120"/>
              </a:rPr>
              <a:t>2026 (Estimado)</a:t>
            </a:r>
            <a:endParaRPr lang="en-US" sz="1100" dirty="0"/>
          </a:p>
        </p:txBody>
      </p:sp>
      <p:sp>
        <p:nvSpPr>
          <p:cNvPr id="32" name="Text 27"/>
          <p:cNvSpPr/>
          <p:nvPr/>
        </p:nvSpPr>
        <p:spPr>
          <a:xfrm>
            <a:off x="8641080" y="5468112"/>
            <a:ext cx="2286000" cy="365760"/>
          </a:xfrm>
          <a:prstGeom prst="rect">
            <a:avLst/>
          </a:prstGeom>
          <a:noFill/>
          <a:ln/>
        </p:spPr>
        <p:txBody>
          <a:bodyPr wrap="square" lIns="0" tIns="0" rIns="0" bIns="0" rtlCol="0" anchor="ctr"/>
          <a:lstStyle/>
          <a:p>
            <a:pPr indent="0" marL="0">
              <a:buNone/>
            </a:pPr>
            <a:r>
              <a:rPr lang="en-US" sz="1700" b="1" dirty="0">
                <a:solidFill>
                  <a:srgbClr val="9333EA"/>
                </a:solidFill>
                <a:latin typeface="Segoe UI" pitchFamily="34" charset="0"/>
                <a:ea typeface="Segoe UI" pitchFamily="34" charset="-122"/>
                <a:cs typeface="Segoe UI" pitchFamily="34" charset="-120"/>
              </a:rPr>
              <a:t>$19.480 M</a:t>
            </a:r>
            <a:endParaRPr lang="en-US" sz="1700" dirty="0"/>
          </a:p>
        </p:txBody>
      </p:sp>
      <p:sp>
        <p:nvSpPr>
          <p:cNvPr id="33" name="Text 28"/>
          <p:cNvSpPr/>
          <p:nvPr/>
        </p:nvSpPr>
        <p:spPr>
          <a:xfrm>
            <a:off x="10744200" y="5468112"/>
            <a:ext cx="365760" cy="365760"/>
          </a:xfrm>
          <a:prstGeom prst="rect">
            <a:avLst/>
          </a:prstGeom>
          <a:noFill/>
          <a:ln/>
        </p:spPr>
        <p:txBody>
          <a:bodyPr wrap="square" lIns="0" tIns="0" rIns="0" bIns="0" rtlCol="0" anchor="ctr"/>
          <a:lstStyle/>
          <a:p>
            <a:pPr indent="0" marL="0">
              <a:buNone/>
            </a:pPr>
            <a:r>
              <a:rPr lang="en-US" sz="1700" b="1" dirty="0">
                <a:solidFill>
                  <a:srgbClr val="16A34A"/>
                </a:solidFill>
                <a:latin typeface="Segoe UI" pitchFamily="34" charset="0"/>
                <a:ea typeface="Segoe UI" pitchFamily="34" charset="-122"/>
                <a:cs typeface="Segoe UI" pitchFamily="34" charset="-120"/>
              </a:rPr>
              <a:t>↗</a:t>
            </a:r>
            <a:endParaRPr lang="en-US" sz="1700" dirty="0"/>
          </a:p>
        </p:txBody>
      </p:sp>
      <p:sp>
        <p:nvSpPr>
          <p:cNvPr id="34" name="Text 29"/>
          <p:cNvSpPr/>
          <p:nvPr/>
        </p:nvSpPr>
        <p:spPr>
          <a:xfrm>
            <a:off x="11000232" y="6419088"/>
            <a:ext cx="914400" cy="274320"/>
          </a:xfrm>
          <a:prstGeom prst="rect">
            <a:avLst/>
          </a:prstGeom>
          <a:noFill/>
          <a:ln/>
        </p:spPr>
        <p:txBody>
          <a:bodyPr wrap="square" lIns="0" tIns="0" rIns="0" bIns="0" rtlCol="0" anchor="ctr"/>
          <a:lstStyle/>
          <a:p>
            <a:pPr algn="r" indent="0" marL="0">
              <a:buNone/>
            </a:pPr>
            <a:r>
              <a:rPr lang="en-US" sz="950" dirty="0">
                <a:solidFill>
                  <a:srgbClr val="64748B"/>
                </a:solidFill>
                <a:latin typeface="Segoe UI" pitchFamily="34" charset="0"/>
                <a:ea typeface="Segoe UI" pitchFamily="34" charset="-122"/>
                <a:cs typeface="Segoe UI" pitchFamily="34" charset="-120"/>
              </a:rPr>
              <a:t>06 / 10</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A5E9"/>
                </a:solidFill>
                <a:latin typeface="Segoe UI" pitchFamily="34" charset="0"/>
                <a:ea typeface="Segoe UI" pitchFamily="34" charset="-122"/>
                <a:cs typeface="Segoe UI" pitchFamily="34" charset="-120"/>
              </a:rPr>
              <a:t>DISEÑO, COMUNICACIÓN Y USABILIDAD · 10 PTS</a:t>
            </a:r>
            <a:endParaRPr lang="en-US" sz="1250" dirty="0"/>
          </a:p>
        </p:txBody>
      </p:sp>
      <p:sp>
        <p:nvSpPr>
          <p:cNvPr id="3" name="Text 1"/>
          <p:cNvSpPr/>
          <p:nvPr/>
        </p:nvSpPr>
        <p:spPr>
          <a:xfrm>
            <a:off x="640080" y="713232"/>
            <a:ext cx="10789920" cy="685800"/>
          </a:xfrm>
          <a:prstGeom prst="rect">
            <a:avLst/>
          </a:prstGeom>
          <a:noFill/>
          <a:ln/>
        </p:spPr>
        <p:txBody>
          <a:bodyPr wrap="square" lIns="0" tIns="0" rIns="0" bIns="0" rtlCol="0" anchor="ctr"/>
          <a:lstStyle/>
          <a:p>
            <a:pPr indent="0" marL="0">
              <a:buNone/>
            </a:pPr>
            <a:r>
              <a:rPr lang="en-US" sz="2900" b="1" dirty="0">
                <a:solidFill>
                  <a:srgbClr val="0F172A"/>
                </a:solidFill>
                <a:latin typeface="Segoe UI" pitchFamily="34" charset="0"/>
                <a:ea typeface="Segoe UI" pitchFamily="34" charset="-122"/>
                <a:cs typeface="Segoe UI" pitchFamily="34" charset="-120"/>
              </a:rPr>
              <a:t>Diseño Ejecutivo y Comunicación Efectiva</a:t>
            </a:r>
            <a:endParaRPr lang="en-US" sz="2900" dirty="0"/>
          </a:p>
        </p:txBody>
      </p:sp>
      <p:sp>
        <p:nvSpPr>
          <p:cNvPr id="4" name="Shape 2"/>
          <p:cNvSpPr/>
          <p:nvPr/>
        </p:nvSpPr>
        <p:spPr>
          <a:xfrm>
            <a:off x="640080" y="1965960"/>
            <a:ext cx="566928" cy="566928"/>
          </a:xfrm>
          <a:prstGeom prst="ellipse">
            <a:avLst/>
          </a:prstGeom>
          <a:solidFill>
            <a:srgbClr val="0EA5E9"/>
          </a:solidFill>
          <a:ln/>
        </p:spPr>
      </p:sp>
      <p:pic>
        <p:nvPicPr>
          <p:cNvPr id="5" name="Image 0" descr="/home/claude/pptx-lienzo/icons/grid.png">    </p:cNvPr>
          <p:cNvPicPr>
            <a:picLocks noChangeAspect="1"/>
          </p:cNvPicPr>
          <p:nvPr/>
        </p:nvPicPr>
        <p:blipFill>
          <a:blip r:embed="rId1"/>
          <a:stretch>
            <a:fillRect/>
          </a:stretch>
        </p:blipFill>
        <p:spPr>
          <a:xfrm>
            <a:off x="764804" y="2090684"/>
            <a:ext cx="317480" cy="317480"/>
          </a:xfrm>
          <a:prstGeom prst="rect">
            <a:avLst/>
          </a:prstGeom>
        </p:spPr>
      </p:pic>
      <p:sp>
        <p:nvSpPr>
          <p:cNvPr id="6" name="Text 3"/>
          <p:cNvSpPr/>
          <p:nvPr/>
        </p:nvSpPr>
        <p:spPr>
          <a:xfrm>
            <a:off x="1481328" y="1938528"/>
            <a:ext cx="4663440" cy="36576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Interfaz minimalista</a:t>
            </a:r>
            <a:endParaRPr lang="en-US" sz="1600" dirty="0"/>
          </a:p>
        </p:txBody>
      </p:sp>
      <p:sp>
        <p:nvSpPr>
          <p:cNvPr id="7" name="Text 4"/>
          <p:cNvSpPr/>
          <p:nvPr/>
        </p:nvSpPr>
        <p:spPr>
          <a:xfrm>
            <a:off x="1481328" y="2295144"/>
            <a:ext cx="4709160" cy="822960"/>
          </a:xfrm>
          <a:prstGeom prst="rect">
            <a:avLst/>
          </a:prstGeom>
          <a:noFill/>
          <a:ln/>
        </p:spPr>
        <p:txBody>
          <a:bodyPr wrap="square" lIns="0" tIns="0" rIns="0" bIns="0" rtlCol="0" anchor="ctr"/>
          <a:lstStyle/>
          <a:p>
            <a:pPr indent="0" marL="0">
              <a:lnSpc>
                <a:spcPct val="115000"/>
              </a:lnSpc>
              <a:buNone/>
            </a:pPr>
            <a:r>
              <a:rPr lang="en-US" sz="1250" dirty="0">
                <a:solidFill>
                  <a:srgbClr val="64748B"/>
                </a:solidFill>
                <a:latin typeface="Segoe UI" pitchFamily="34" charset="0"/>
                <a:ea typeface="Segoe UI" pitchFamily="34" charset="-122"/>
                <a:cs typeface="Segoe UI" pitchFamily="34" charset="-120"/>
              </a:rPr>
              <a:t>Tipo "asistente de oficina": clara, sin curva de aprendizaje.</a:t>
            </a:r>
            <a:endParaRPr lang="en-US" sz="1250" dirty="0"/>
          </a:p>
        </p:txBody>
      </p:sp>
      <p:sp>
        <p:nvSpPr>
          <p:cNvPr id="8" name="Shape 5"/>
          <p:cNvSpPr/>
          <p:nvPr/>
        </p:nvSpPr>
        <p:spPr>
          <a:xfrm>
            <a:off x="640080" y="3337560"/>
            <a:ext cx="566928" cy="566928"/>
          </a:xfrm>
          <a:prstGeom prst="ellipse">
            <a:avLst/>
          </a:prstGeom>
          <a:solidFill>
            <a:srgbClr val="0EA5E9"/>
          </a:solidFill>
          <a:ln/>
        </p:spPr>
      </p:sp>
      <p:pic>
        <p:nvPicPr>
          <p:cNvPr id="9" name="Image 1" descr="/home/claude/pptx-lienzo/icons/file.png">    </p:cNvPr>
          <p:cNvPicPr>
            <a:picLocks noChangeAspect="1"/>
          </p:cNvPicPr>
          <p:nvPr/>
        </p:nvPicPr>
        <p:blipFill>
          <a:blip r:embed="rId2"/>
          <a:stretch>
            <a:fillRect/>
          </a:stretch>
        </p:blipFill>
        <p:spPr>
          <a:xfrm>
            <a:off x="764804" y="3462284"/>
            <a:ext cx="317480" cy="317480"/>
          </a:xfrm>
          <a:prstGeom prst="rect">
            <a:avLst/>
          </a:prstGeom>
        </p:spPr>
      </p:pic>
      <p:sp>
        <p:nvSpPr>
          <p:cNvPr id="10" name="Text 6"/>
          <p:cNvSpPr/>
          <p:nvPr/>
        </p:nvSpPr>
        <p:spPr>
          <a:xfrm>
            <a:off x="1481328" y="3310128"/>
            <a:ext cx="4663440" cy="36576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Exportación a PDF multipágina</a:t>
            </a:r>
            <a:endParaRPr lang="en-US" sz="1600" dirty="0"/>
          </a:p>
        </p:txBody>
      </p:sp>
      <p:sp>
        <p:nvSpPr>
          <p:cNvPr id="11" name="Text 7"/>
          <p:cNvSpPr/>
          <p:nvPr/>
        </p:nvSpPr>
        <p:spPr>
          <a:xfrm>
            <a:off x="1481328" y="3666744"/>
            <a:ext cx="4709160" cy="822960"/>
          </a:xfrm>
          <a:prstGeom prst="rect">
            <a:avLst/>
          </a:prstGeom>
          <a:noFill/>
          <a:ln/>
        </p:spPr>
        <p:txBody>
          <a:bodyPr wrap="square" lIns="0" tIns="0" rIns="0" bIns="0" rtlCol="0" anchor="ctr"/>
          <a:lstStyle/>
          <a:p>
            <a:pPr indent="0" marL="0">
              <a:lnSpc>
                <a:spcPct val="115000"/>
              </a:lnSpc>
              <a:buNone/>
            </a:pPr>
            <a:r>
              <a:rPr lang="en-US" sz="1250" dirty="0">
                <a:solidFill>
                  <a:srgbClr val="64748B"/>
                </a:solidFill>
                <a:latin typeface="Segoe UI" pitchFamily="34" charset="0"/>
                <a:ea typeface="Segoe UI" pitchFamily="34" charset="-122"/>
                <a:cs typeface="Segoe UI" pitchFamily="34" charset="-120"/>
              </a:rPr>
              <a:t>Lógica de slicing en alta resolución, lista para imprimir.</a:t>
            </a:r>
            <a:endParaRPr lang="en-US" sz="1250" dirty="0"/>
          </a:p>
        </p:txBody>
      </p:sp>
      <p:sp>
        <p:nvSpPr>
          <p:cNvPr id="12" name="Shape 8"/>
          <p:cNvSpPr/>
          <p:nvPr/>
        </p:nvSpPr>
        <p:spPr>
          <a:xfrm>
            <a:off x="640080" y="4709160"/>
            <a:ext cx="566928" cy="566928"/>
          </a:xfrm>
          <a:prstGeom prst="ellipse">
            <a:avLst/>
          </a:prstGeom>
          <a:solidFill>
            <a:srgbClr val="0EA5E9"/>
          </a:solidFill>
          <a:ln/>
        </p:spPr>
      </p:sp>
      <p:pic>
        <p:nvPicPr>
          <p:cNvPr id="13" name="Image 2" descr="/home/claude/pptx-lienzo/icons/layers.png">    </p:cNvPr>
          <p:cNvPicPr>
            <a:picLocks noChangeAspect="1"/>
          </p:cNvPicPr>
          <p:nvPr/>
        </p:nvPicPr>
        <p:blipFill>
          <a:blip r:embed="rId3"/>
          <a:stretch>
            <a:fillRect/>
          </a:stretch>
        </p:blipFill>
        <p:spPr>
          <a:xfrm>
            <a:off x="764804" y="4833884"/>
            <a:ext cx="317480" cy="317480"/>
          </a:xfrm>
          <a:prstGeom prst="rect">
            <a:avLst/>
          </a:prstGeom>
        </p:spPr>
      </p:pic>
      <p:sp>
        <p:nvSpPr>
          <p:cNvPr id="14" name="Text 9"/>
          <p:cNvSpPr/>
          <p:nvPr/>
        </p:nvSpPr>
        <p:spPr>
          <a:xfrm>
            <a:off x="1481328" y="4681728"/>
            <a:ext cx="4663440" cy="365760"/>
          </a:xfrm>
          <a:prstGeom prst="rect">
            <a:avLst/>
          </a:prstGeom>
          <a:noFill/>
          <a:ln/>
        </p:spPr>
        <p:txBody>
          <a:bodyPr wrap="square" lIns="0" tIns="0" rIns="0" bIns="0" rtlCol="0" anchor="ctr"/>
          <a:lstStyle/>
          <a:p>
            <a:pPr indent="0" marL="0">
              <a:buNone/>
            </a:pPr>
            <a:r>
              <a:rPr lang="en-US" sz="1600" b="1" dirty="0">
                <a:solidFill>
                  <a:srgbClr val="0F172A"/>
                </a:solidFill>
                <a:latin typeface="Segoe UI" pitchFamily="34" charset="0"/>
                <a:ea typeface="Segoe UI" pitchFamily="34" charset="-122"/>
                <a:cs typeface="Segoe UI" pitchFamily="34" charset="-120"/>
              </a:rPr>
              <a:t>Todo en un mismo lienzo</a:t>
            </a:r>
            <a:endParaRPr lang="en-US" sz="1600" dirty="0"/>
          </a:p>
        </p:txBody>
      </p:sp>
      <p:sp>
        <p:nvSpPr>
          <p:cNvPr id="15" name="Text 10"/>
          <p:cNvSpPr/>
          <p:nvPr/>
        </p:nvSpPr>
        <p:spPr>
          <a:xfrm>
            <a:off x="1481328" y="5038344"/>
            <a:ext cx="4709160" cy="822960"/>
          </a:xfrm>
          <a:prstGeom prst="rect">
            <a:avLst/>
          </a:prstGeom>
          <a:noFill/>
          <a:ln/>
        </p:spPr>
        <p:txBody>
          <a:bodyPr wrap="square" lIns="0" tIns="0" rIns="0" bIns="0" rtlCol="0" anchor="ctr"/>
          <a:lstStyle/>
          <a:p>
            <a:pPr indent="0" marL="0">
              <a:lnSpc>
                <a:spcPct val="115000"/>
              </a:lnSpc>
              <a:buNone/>
            </a:pPr>
            <a:r>
              <a:rPr lang="en-US" sz="1250" dirty="0">
                <a:solidFill>
                  <a:srgbClr val="64748B"/>
                </a:solidFill>
                <a:latin typeface="Segoe UI" pitchFamily="34" charset="0"/>
                <a:ea typeface="Segoe UI" pitchFamily="34" charset="-122"/>
                <a:cs typeface="Segoe UI" pitchFamily="34" charset="-120"/>
              </a:rPr>
              <a:t>Datos originales y tablas resumen deslizables, sin cambiar de pantalla.</a:t>
            </a:r>
            <a:endParaRPr lang="en-US" sz="1250" dirty="0"/>
          </a:p>
        </p:txBody>
      </p:sp>
      <p:sp>
        <p:nvSpPr>
          <p:cNvPr id="16" name="Shape 11"/>
          <p:cNvSpPr/>
          <p:nvPr/>
        </p:nvSpPr>
        <p:spPr>
          <a:xfrm>
            <a:off x="6720840" y="1783080"/>
            <a:ext cx="4846320" cy="4160520"/>
          </a:xfrm>
          <a:prstGeom prst="roundRect">
            <a:avLst>
              <a:gd name="adj" fmla="val 2198"/>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7" name="Shape 12"/>
          <p:cNvSpPr/>
          <p:nvPr/>
        </p:nvSpPr>
        <p:spPr>
          <a:xfrm>
            <a:off x="6949440" y="2011680"/>
            <a:ext cx="4389120" cy="777240"/>
          </a:xfrm>
          <a:prstGeom prst="roundRect">
            <a:avLst>
              <a:gd name="adj" fmla="val 9412"/>
            </a:avLst>
          </a:prstGeom>
          <a:solidFill>
            <a:srgbClr val="0F172A"/>
          </a:solidFill>
          <a:ln/>
        </p:spPr>
      </p:sp>
      <p:sp>
        <p:nvSpPr>
          <p:cNvPr id="18" name="Text 13"/>
          <p:cNvSpPr/>
          <p:nvPr/>
        </p:nvSpPr>
        <p:spPr>
          <a:xfrm>
            <a:off x="7132320" y="2011680"/>
            <a:ext cx="4023360" cy="777240"/>
          </a:xfrm>
          <a:prstGeom prst="rect">
            <a:avLst/>
          </a:prstGeom>
          <a:noFill/>
          <a:ln/>
        </p:spPr>
        <p:txBody>
          <a:bodyPr wrap="square" lIns="0" tIns="0" rIns="0" bIns="0"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INFORME EJECUTIVO — TRÁMITES 2026</a:t>
            </a:r>
            <a:endParaRPr lang="en-US" sz="1200" dirty="0"/>
          </a:p>
        </p:txBody>
      </p:sp>
      <p:sp>
        <p:nvSpPr>
          <p:cNvPr id="19" name="Shape 14"/>
          <p:cNvSpPr/>
          <p:nvPr/>
        </p:nvSpPr>
        <p:spPr>
          <a:xfrm>
            <a:off x="6949440" y="2926080"/>
            <a:ext cx="1389888" cy="777240"/>
          </a:xfrm>
          <a:prstGeom prst="roundRect">
            <a:avLst>
              <a:gd name="adj" fmla="val 8235"/>
            </a:avLst>
          </a:prstGeom>
          <a:solidFill>
            <a:srgbClr val="E0F2FE"/>
          </a:solidFill>
          <a:ln/>
        </p:spPr>
      </p:sp>
      <p:sp>
        <p:nvSpPr>
          <p:cNvPr id="20" name="Text 15"/>
          <p:cNvSpPr/>
          <p:nvPr/>
        </p:nvSpPr>
        <p:spPr>
          <a:xfrm>
            <a:off x="6949440" y="2990088"/>
            <a:ext cx="1389888" cy="457200"/>
          </a:xfrm>
          <a:prstGeom prst="rect">
            <a:avLst/>
          </a:prstGeom>
          <a:noFill/>
          <a:ln/>
        </p:spPr>
        <p:txBody>
          <a:bodyPr wrap="square" lIns="0" tIns="0" rIns="0" bIns="0" rtlCol="0" anchor="ctr"/>
          <a:lstStyle/>
          <a:p>
            <a:pPr algn="ctr" indent="0" marL="0">
              <a:buNone/>
            </a:pPr>
            <a:r>
              <a:rPr lang="en-US" sz="1700" b="1" dirty="0">
                <a:solidFill>
                  <a:srgbClr val="0EA5E9"/>
                </a:solidFill>
                <a:latin typeface="Segoe UI" pitchFamily="34" charset="0"/>
                <a:ea typeface="Segoe UI" pitchFamily="34" charset="-122"/>
                <a:cs typeface="Segoe UI" pitchFamily="34" charset="-120"/>
              </a:rPr>
              <a:t>1.240</a:t>
            </a:r>
            <a:endParaRPr lang="en-US" sz="1700" dirty="0"/>
          </a:p>
        </p:txBody>
      </p:sp>
      <p:sp>
        <p:nvSpPr>
          <p:cNvPr id="21" name="Text 16"/>
          <p:cNvSpPr/>
          <p:nvPr/>
        </p:nvSpPr>
        <p:spPr>
          <a:xfrm>
            <a:off x="6949440" y="3383280"/>
            <a:ext cx="1389888" cy="274320"/>
          </a:xfrm>
          <a:prstGeom prst="rect">
            <a:avLst/>
          </a:prstGeom>
          <a:noFill/>
          <a:ln/>
        </p:spPr>
        <p:txBody>
          <a:bodyPr wrap="square" lIns="0" tIns="0" rIns="0" bIns="0" rtlCol="0" anchor="ctr"/>
          <a:lstStyle/>
          <a:p>
            <a:pPr algn="ctr" indent="0" marL="0">
              <a:buNone/>
            </a:pPr>
            <a:r>
              <a:rPr lang="en-US" sz="850" dirty="0">
                <a:solidFill>
                  <a:srgbClr val="64748B"/>
                </a:solidFill>
                <a:latin typeface="Segoe UI" pitchFamily="34" charset="0"/>
                <a:ea typeface="Segoe UI" pitchFamily="34" charset="-122"/>
                <a:cs typeface="Segoe UI" pitchFamily="34" charset="-120"/>
              </a:rPr>
              <a:t>KPI</a:t>
            </a:r>
            <a:endParaRPr lang="en-US" sz="850" dirty="0"/>
          </a:p>
        </p:txBody>
      </p:sp>
      <p:sp>
        <p:nvSpPr>
          <p:cNvPr id="22" name="Shape 17"/>
          <p:cNvSpPr/>
          <p:nvPr/>
        </p:nvSpPr>
        <p:spPr>
          <a:xfrm>
            <a:off x="8430768" y="2926080"/>
            <a:ext cx="1389888" cy="777240"/>
          </a:xfrm>
          <a:prstGeom prst="roundRect">
            <a:avLst>
              <a:gd name="adj" fmla="val 8235"/>
            </a:avLst>
          </a:prstGeom>
          <a:solidFill>
            <a:srgbClr val="DCFCE7"/>
          </a:solidFill>
          <a:ln/>
        </p:spPr>
      </p:sp>
      <p:sp>
        <p:nvSpPr>
          <p:cNvPr id="23" name="Text 18"/>
          <p:cNvSpPr/>
          <p:nvPr/>
        </p:nvSpPr>
        <p:spPr>
          <a:xfrm>
            <a:off x="8430768" y="2990088"/>
            <a:ext cx="1389888" cy="457200"/>
          </a:xfrm>
          <a:prstGeom prst="rect">
            <a:avLst/>
          </a:prstGeom>
          <a:noFill/>
          <a:ln/>
        </p:spPr>
        <p:txBody>
          <a:bodyPr wrap="square" lIns="0" tIns="0" rIns="0" bIns="0" rtlCol="0" anchor="ctr"/>
          <a:lstStyle/>
          <a:p>
            <a:pPr algn="ctr" indent="0" marL="0">
              <a:buNone/>
            </a:pPr>
            <a:r>
              <a:rPr lang="en-US" sz="1700" b="1" dirty="0">
                <a:solidFill>
                  <a:srgbClr val="16A34A"/>
                </a:solidFill>
                <a:latin typeface="Segoe UI" pitchFamily="34" charset="0"/>
                <a:ea typeface="Segoe UI" pitchFamily="34" charset="-122"/>
                <a:cs typeface="Segoe UI" pitchFamily="34" charset="-120"/>
              </a:rPr>
              <a:t>85.3M</a:t>
            </a:r>
            <a:endParaRPr lang="en-US" sz="1700" dirty="0"/>
          </a:p>
        </p:txBody>
      </p:sp>
      <p:sp>
        <p:nvSpPr>
          <p:cNvPr id="24" name="Text 19"/>
          <p:cNvSpPr/>
          <p:nvPr/>
        </p:nvSpPr>
        <p:spPr>
          <a:xfrm>
            <a:off x="8430768" y="3383280"/>
            <a:ext cx="1389888" cy="274320"/>
          </a:xfrm>
          <a:prstGeom prst="rect">
            <a:avLst/>
          </a:prstGeom>
          <a:noFill/>
          <a:ln/>
        </p:spPr>
        <p:txBody>
          <a:bodyPr wrap="square" lIns="0" tIns="0" rIns="0" bIns="0" rtlCol="0" anchor="ctr"/>
          <a:lstStyle/>
          <a:p>
            <a:pPr algn="ctr" indent="0" marL="0">
              <a:buNone/>
            </a:pPr>
            <a:r>
              <a:rPr lang="en-US" sz="850" dirty="0">
                <a:solidFill>
                  <a:srgbClr val="64748B"/>
                </a:solidFill>
                <a:latin typeface="Segoe UI" pitchFamily="34" charset="0"/>
                <a:ea typeface="Segoe UI" pitchFamily="34" charset="-122"/>
                <a:cs typeface="Segoe UI" pitchFamily="34" charset="-120"/>
              </a:rPr>
              <a:t>KPI</a:t>
            </a:r>
            <a:endParaRPr lang="en-US" sz="850" dirty="0"/>
          </a:p>
        </p:txBody>
      </p:sp>
      <p:sp>
        <p:nvSpPr>
          <p:cNvPr id="25" name="Shape 20"/>
          <p:cNvSpPr/>
          <p:nvPr/>
        </p:nvSpPr>
        <p:spPr>
          <a:xfrm>
            <a:off x="9912096" y="2926080"/>
            <a:ext cx="1389888" cy="777240"/>
          </a:xfrm>
          <a:prstGeom prst="roundRect">
            <a:avLst>
              <a:gd name="adj" fmla="val 8235"/>
            </a:avLst>
          </a:prstGeom>
          <a:solidFill>
            <a:srgbClr val="F3E8FF"/>
          </a:solidFill>
          <a:ln/>
        </p:spPr>
      </p:sp>
      <p:sp>
        <p:nvSpPr>
          <p:cNvPr id="26" name="Text 21"/>
          <p:cNvSpPr/>
          <p:nvPr/>
        </p:nvSpPr>
        <p:spPr>
          <a:xfrm>
            <a:off x="9912096" y="2990088"/>
            <a:ext cx="1389888" cy="457200"/>
          </a:xfrm>
          <a:prstGeom prst="rect">
            <a:avLst/>
          </a:prstGeom>
          <a:noFill/>
          <a:ln/>
        </p:spPr>
        <p:txBody>
          <a:bodyPr wrap="square" lIns="0" tIns="0" rIns="0" bIns="0" rtlCol="0" anchor="ctr"/>
          <a:lstStyle/>
          <a:p>
            <a:pPr algn="ctr" indent="0" marL="0">
              <a:buNone/>
            </a:pPr>
            <a:r>
              <a:rPr lang="en-US" sz="1700" b="1" dirty="0">
                <a:solidFill>
                  <a:srgbClr val="9333EA"/>
                </a:solidFill>
                <a:latin typeface="Segoe UI" pitchFamily="34" charset="0"/>
                <a:ea typeface="Segoe UI" pitchFamily="34" charset="-122"/>
                <a:cs typeface="Segoe UI" pitchFamily="34" charset="-120"/>
              </a:rPr>
              <a:t>12.4</a:t>
            </a:r>
            <a:endParaRPr lang="en-US" sz="1700" dirty="0"/>
          </a:p>
        </p:txBody>
      </p:sp>
      <p:sp>
        <p:nvSpPr>
          <p:cNvPr id="27" name="Text 22"/>
          <p:cNvSpPr/>
          <p:nvPr/>
        </p:nvSpPr>
        <p:spPr>
          <a:xfrm>
            <a:off x="9912096" y="3383280"/>
            <a:ext cx="1389888" cy="274320"/>
          </a:xfrm>
          <a:prstGeom prst="rect">
            <a:avLst/>
          </a:prstGeom>
          <a:noFill/>
          <a:ln/>
        </p:spPr>
        <p:txBody>
          <a:bodyPr wrap="square" lIns="0" tIns="0" rIns="0" bIns="0" rtlCol="0" anchor="ctr"/>
          <a:lstStyle/>
          <a:p>
            <a:pPr algn="ctr" indent="0" marL="0">
              <a:buNone/>
            </a:pPr>
            <a:r>
              <a:rPr lang="en-US" sz="850" dirty="0">
                <a:solidFill>
                  <a:srgbClr val="64748B"/>
                </a:solidFill>
                <a:latin typeface="Segoe UI" pitchFamily="34" charset="0"/>
                <a:ea typeface="Segoe UI" pitchFamily="34" charset="-122"/>
                <a:cs typeface="Segoe UI" pitchFamily="34" charset="-120"/>
              </a:rPr>
              <a:t>KPI</a:t>
            </a:r>
            <a:endParaRPr lang="en-US" sz="850" dirty="0"/>
          </a:p>
        </p:txBody>
      </p:sp>
      <p:sp>
        <p:nvSpPr>
          <p:cNvPr id="28" name="Shape 23"/>
          <p:cNvSpPr/>
          <p:nvPr/>
        </p:nvSpPr>
        <p:spPr>
          <a:xfrm>
            <a:off x="6949440" y="3931920"/>
            <a:ext cx="2121408" cy="1417320"/>
          </a:xfrm>
          <a:prstGeom prst="roundRect">
            <a:avLst>
              <a:gd name="adj" fmla="val 4516"/>
            </a:avLst>
          </a:prstGeom>
          <a:solidFill>
            <a:srgbClr val="F8FAFC"/>
          </a:solidFill>
          <a:ln w="9525">
            <a:solidFill>
              <a:srgbClr val="E2E8F0"/>
            </a:solidFill>
            <a:prstDash val="solid"/>
          </a:ln>
        </p:spPr>
      </p:sp>
      <p:sp>
        <p:nvSpPr>
          <p:cNvPr id="29" name="Shape 24"/>
          <p:cNvSpPr/>
          <p:nvPr/>
        </p:nvSpPr>
        <p:spPr>
          <a:xfrm>
            <a:off x="9217152" y="3931920"/>
            <a:ext cx="2121408" cy="1417320"/>
          </a:xfrm>
          <a:prstGeom prst="roundRect">
            <a:avLst>
              <a:gd name="adj" fmla="val 4516"/>
            </a:avLst>
          </a:prstGeom>
          <a:solidFill>
            <a:srgbClr val="F8FAFC"/>
          </a:solidFill>
          <a:ln w="9525">
            <a:solidFill>
              <a:srgbClr val="E2E8F0"/>
            </a:solidFill>
            <a:prstDash val="solid"/>
          </a:ln>
        </p:spPr>
      </p:sp>
      <p:sp>
        <p:nvSpPr>
          <p:cNvPr id="30" name="Shape 25"/>
          <p:cNvSpPr/>
          <p:nvPr/>
        </p:nvSpPr>
        <p:spPr>
          <a:xfrm>
            <a:off x="7132320" y="4846320"/>
            <a:ext cx="201168" cy="320040"/>
          </a:xfrm>
          <a:prstGeom prst="rect">
            <a:avLst/>
          </a:prstGeom>
          <a:solidFill>
            <a:srgbClr val="0EA5E9"/>
          </a:solidFill>
          <a:ln/>
        </p:spPr>
      </p:sp>
      <p:sp>
        <p:nvSpPr>
          <p:cNvPr id="31" name="Shape 26"/>
          <p:cNvSpPr/>
          <p:nvPr/>
        </p:nvSpPr>
        <p:spPr>
          <a:xfrm>
            <a:off x="7452360" y="4480560"/>
            <a:ext cx="201168" cy="685800"/>
          </a:xfrm>
          <a:prstGeom prst="rect">
            <a:avLst/>
          </a:prstGeom>
          <a:solidFill>
            <a:srgbClr val="0EA5E9"/>
          </a:solidFill>
          <a:ln/>
        </p:spPr>
      </p:sp>
      <p:sp>
        <p:nvSpPr>
          <p:cNvPr id="32" name="Shape 27"/>
          <p:cNvSpPr/>
          <p:nvPr/>
        </p:nvSpPr>
        <p:spPr>
          <a:xfrm>
            <a:off x="7772400" y="4114800"/>
            <a:ext cx="201168" cy="1051560"/>
          </a:xfrm>
          <a:prstGeom prst="rect">
            <a:avLst/>
          </a:prstGeom>
          <a:solidFill>
            <a:srgbClr val="0EA5E9"/>
          </a:solidFill>
          <a:ln/>
        </p:spPr>
      </p:sp>
      <p:sp>
        <p:nvSpPr>
          <p:cNvPr id="33" name="Shape 28"/>
          <p:cNvSpPr/>
          <p:nvPr/>
        </p:nvSpPr>
        <p:spPr>
          <a:xfrm>
            <a:off x="9555480" y="4251960"/>
            <a:ext cx="777240" cy="777240"/>
          </a:xfrm>
          <a:prstGeom prst="ellipse">
            <a:avLst/>
          </a:prstGeom>
          <a:noFill/>
          <a:ln w="101600">
            <a:solidFill>
              <a:srgbClr val="16A34A"/>
            </a:solidFill>
            <a:prstDash val="solid"/>
          </a:ln>
        </p:spPr>
      </p:sp>
      <p:sp>
        <p:nvSpPr>
          <p:cNvPr id="34" name="Text 29"/>
          <p:cNvSpPr/>
          <p:nvPr/>
        </p:nvSpPr>
        <p:spPr>
          <a:xfrm>
            <a:off x="640080" y="6419088"/>
            <a:ext cx="4572000" cy="274320"/>
          </a:xfrm>
          <a:prstGeom prst="rect">
            <a:avLst/>
          </a:prstGeom>
          <a:noFill/>
          <a:ln/>
        </p:spPr>
        <p:txBody>
          <a:bodyPr wrap="square" lIns="0" tIns="0" rIns="0" bIns="0" rtlCol="0" anchor="ctr"/>
          <a:lstStyle/>
          <a:p>
            <a:pPr indent="0" marL="0">
              <a:buNone/>
            </a:pPr>
            <a:r>
              <a:rPr lang="en-US" sz="950" spc="100" kern="0" dirty="0">
                <a:solidFill>
                  <a:srgbClr val="64748B"/>
                </a:solidFill>
                <a:latin typeface="Segoe UI" pitchFamily="34" charset="0"/>
                <a:ea typeface="Segoe UI" pitchFamily="34" charset="-122"/>
                <a:cs typeface="Segoe UI" pitchFamily="34" charset="-120"/>
              </a:rPr>
              <a:t>EL ROSAL · LIENZO EJECUTIVO</a:t>
            </a:r>
            <a:endParaRPr lang="en-US" sz="950" dirty="0"/>
          </a:p>
        </p:txBody>
      </p:sp>
      <p:sp>
        <p:nvSpPr>
          <p:cNvPr id="35" name="Text 30"/>
          <p:cNvSpPr/>
          <p:nvPr/>
        </p:nvSpPr>
        <p:spPr>
          <a:xfrm>
            <a:off x="11000232" y="6419088"/>
            <a:ext cx="914400" cy="274320"/>
          </a:xfrm>
          <a:prstGeom prst="rect">
            <a:avLst/>
          </a:prstGeom>
          <a:noFill/>
          <a:ln/>
        </p:spPr>
        <p:txBody>
          <a:bodyPr wrap="square" lIns="0" tIns="0" rIns="0" bIns="0" rtlCol="0" anchor="ctr"/>
          <a:lstStyle/>
          <a:p>
            <a:pPr algn="r" indent="0" marL="0">
              <a:buNone/>
            </a:pPr>
            <a:r>
              <a:rPr lang="en-US" sz="950" dirty="0">
                <a:solidFill>
                  <a:srgbClr val="64748B"/>
                </a:solidFill>
                <a:latin typeface="Segoe UI" pitchFamily="34" charset="0"/>
                <a:ea typeface="Segoe UI" pitchFamily="34" charset="-122"/>
                <a:cs typeface="Segoe UI" pitchFamily="34" charset="-120"/>
              </a:rPr>
              <a:t>07 / 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A5E9"/>
                </a:solidFill>
                <a:latin typeface="Segoe UI" pitchFamily="34" charset="0"/>
                <a:ea typeface="Segoe UI" pitchFamily="34" charset="-122"/>
                <a:cs typeface="Segoe UI" pitchFamily="34" charset="-120"/>
              </a:rPr>
              <a:t>IMPACTO Y ESCALABILIDAD · 20 PTS</a:t>
            </a:r>
            <a:endParaRPr lang="en-US" sz="1250" dirty="0"/>
          </a:p>
        </p:txBody>
      </p:sp>
      <p:sp>
        <p:nvSpPr>
          <p:cNvPr id="3" name="Text 1"/>
          <p:cNvSpPr/>
          <p:nvPr/>
        </p:nvSpPr>
        <p:spPr>
          <a:xfrm>
            <a:off x="640080" y="713232"/>
            <a:ext cx="10789920" cy="685800"/>
          </a:xfrm>
          <a:prstGeom prst="rect">
            <a:avLst/>
          </a:prstGeom>
          <a:noFill/>
          <a:ln/>
        </p:spPr>
        <p:txBody>
          <a:bodyPr wrap="square" lIns="0" tIns="0" rIns="0" bIns="0" rtlCol="0" anchor="ctr"/>
          <a:lstStyle/>
          <a:p>
            <a:pPr indent="0" marL="0">
              <a:buNone/>
            </a:pPr>
            <a:r>
              <a:rPr lang="en-US" sz="2900" b="1" dirty="0">
                <a:solidFill>
                  <a:srgbClr val="0F172A"/>
                </a:solidFill>
                <a:latin typeface="Segoe UI" pitchFamily="34" charset="0"/>
                <a:ea typeface="Segoe UI" pitchFamily="34" charset="-122"/>
                <a:cs typeface="Segoe UI" pitchFamily="34" charset="-120"/>
              </a:rPr>
              <a:t>Impacto Social y Escalabilidad Nacional</a:t>
            </a:r>
            <a:endParaRPr lang="en-US" sz="2900" dirty="0"/>
          </a:p>
        </p:txBody>
      </p:sp>
      <p:sp>
        <p:nvSpPr>
          <p:cNvPr id="4" name="Shape 2"/>
          <p:cNvSpPr/>
          <p:nvPr/>
        </p:nvSpPr>
        <p:spPr>
          <a:xfrm>
            <a:off x="640080" y="1874520"/>
            <a:ext cx="2578608" cy="2423160"/>
          </a:xfrm>
          <a:prstGeom prst="roundRect">
            <a:avLst>
              <a:gd name="adj" fmla="val 3774"/>
            </a:avLst>
          </a:prstGeom>
          <a:solidFill>
            <a:srgbClr val="FFFFFF"/>
          </a:solidFill>
          <a:ln w="12700">
            <a:solidFill>
              <a:srgbClr val="E2E8F0"/>
            </a:solidFill>
            <a:prstDash val="solid"/>
          </a:ln>
          <a:effectLst>
            <a:outerShdw sx="100000" sy="100000" kx="0" ky="0" algn="bl" rotWithShape="0" blurRad="127000" dist="25400" dir="5400000">
              <a:srgbClr val="0F172A">
                <a:alpha val="8000"/>
              </a:srgbClr>
            </a:outerShdw>
          </a:effectLst>
        </p:spPr>
      </p:sp>
      <p:sp>
        <p:nvSpPr>
          <p:cNvPr id="5" name="Shape 3"/>
          <p:cNvSpPr/>
          <p:nvPr/>
        </p:nvSpPr>
        <p:spPr>
          <a:xfrm>
            <a:off x="896112" y="2148840"/>
            <a:ext cx="548640" cy="548640"/>
          </a:xfrm>
          <a:prstGeom prst="ellipse">
            <a:avLst/>
          </a:prstGeom>
          <a:solidFill>
            <a:srgbClr val="0EA5E9"/>
          </a:solidFill>
          <a:ln/>
        </p:spPr>
      </p:sp>
      <p:pic>
        <p:nvPicPr>
          <p:cNvPr id="6" name="Image 0" descr="/home/claude/pptx-lienzo/icons/users.png">    </p:cNvPr>
          <p:cNvPicPr>
            <a:picLocks noChangeAspect="1"/>
          </p:cNvPicPr>
          <p:nvPr/>
        </p:nvPicPr>
        <p:blipFill>
          <a:blip r:embed="rId1"/>
          <a:stretch>
            <a:fillRect/>
          </a:stretch>
        </p:blipFill>
        <p:spPr>
          <a:xfrm>
            <a:off x="1016813" y="2269541"/>
            <a:ext cx="307238" cy="307238"/>
          </a:xfrm>
          <a:prstGeom prst="rect">
            <a:avLst/>
          </a:prstGeom>
        </p:spPr>
      </p:pic>
      <p:sp>
        <p:nvSpPr>
          <p:cNvPr id="7" name="Text 4"/>
          <p:cNvSpPr/>
          <p:nvPr/>
        </p:nvSpPr>
        <p:spPr>
          <a:xfrm>
            <a:off x="896112" y="2880360"/>
            <a:ext cx="2066544" cy="320040"/>
          </a:xfrm>
          <a:prstGeom prst="rect">
            <a:avLst/>
          </a:prstGeom>
          <a:noFill/>
          <a:ln/>
        </p:spPr>
        <p:txBody>
          <a:bodyPr wrap="square" lIns="0" tIns="0" rIns="0" bIns="0" rtlCol="0" anchor="ctr"/>
          <a:lstStyle/>
          <a:p>
            <a:pPr indent="0" marL="0">
              <a:buNone/>
            </a:pPr>
            <a:r>
              <a:rPr lang="en-US" sz="1550" b="1" dirty="0">
                <a:solidFill>
                  <a:srgbClr val="0F172A"/>
                </a:solidFill>
                <a:latin typeface="Segoe UI" pitchFamily="34" charset="0"/>
                <a:ea typeface="Segoe UI" pitchFamily="34" charset="-122"/>
                <a:cs typeface="Segoe UI" pitchFamily="34" charset="-120"/>
              </a:rPr>
              <a:t>Social</a:t>
            </a:r>
            <a:endParaRPr lang="en-US" sz="1550" dirty="0"/>
          </a:p>
        </p:txBody>
      </p:sp>
      <p:sp>
        <p:nvSpPr>
          <p:cNvPr id="8" name="Text 5"/>
          <p:cNvSpPr/>
          <p:nvPr/>
        </p:nvSpPr>
        <p:spPr>
          <a:xfrm>
            <a:off x="896112" y="3227832"/>
            <a:ext cx="2066544" cy="960120"/>
          </a:xfrm>
          <a:prstGeom prst="rect">
            <a:avLst/>
          </a:prstGeom>
          <a:noFill/>
          <a:ln/>
        </p:spPr>
        <p:txBody>
          <a:bodyPr wrap="square" lIns="0" tIns="0" rIns="0" bIns="0" rtlCol="0" anchor="ctr"/>
          <a:lstStyle/>
          <a:p>
            <a:pPr indent="0" marL="0">
              <a:lnSpc>
                <a:spcPct val="118000"/>
              </a:lnSpc>
              <a:buNone/>
            </a:pPr>
            <a:r>
              <a:rPr lang="en-US" sz="1080" dirty="0">
                <a:solidFill>
                  <a:srgbClr val="64748B"/>
                </a:solidFill>
                <a:latin typeface="Segoe UI" pitchFamily="34" charset="0"/>
                <a:ea typeface="Segoe UI" pitchFamily="34" charset="-122"/>
                <a:cs typeface="Segoe UI" pitchFamily="34" charset="-120"/>
              </a:rPr>
              <a:t>Empodera al ciudadano para entender datos complejos sin barreras técnicas.</a:t>
            </a:r>
            <a:endParaRPr lang="en-US" sz="1080" dirty="0"/>
          </a:p>
        </p:txBody>
      </p:sp>
      <p:sp>
        <p:nvSpPr>
          <p:cNvPr id="9" name="Shape 6"/>
          <p:cNvSpPr/>
          <p:nvPr/>
        </p:nvSpPr>
        <p:spPr>
          <a:xfrm>
            <a:off x="3438144" y="1874520"/>
            <a:ext cx="2578608" cy="2423160"/>
          </a:xfrm>
          <a:prstGeom prst="roundRect">
            <a:avLst>
              <a:gd name="adj" fmla="val 3774"/>
            </a:avLst>
          </a:prstGeom>
          <a:solidFill>
            <a:srgbClr val="FFFFFF"/>
          </a:solidFill>
          <a:ln w="12700">
            <a:solidFill>
              <a:srgbClr val="E2E8F0"/>
            </a:solidFill>
            <a:prstDash val="solid"/>
          </a:ln>
          <a:effectLst>
            <a:outerShdw sx="100000" sy="100000" kx="0" ky="0" algn="bl" rotWithShape="0" blurRad="127000" dist="25400" dir="5400000">
              <a:srgbClr val="0F172A">
                <a:alpha val="8000"/>
              </a:srgbClr>
            </a:outerShdw>
          </a:effectLst>
        </p:spPr>
      </p:sp>
      <p:sp>
        <p:nvSpPr>
          <p:cNvPr id="10" name="Shape 7"/>
          <p:cNvSpPr/>
          <p:nvPr/>
        </p:nvSpPr>
        <p:spPr>
          <a:xfrm>
            <a:off x="3694176" y="2148840"/>
            <a:ext cx="548640" cy="548640"/>
          </a:xfrm>
          <a:prstGeom prst="ellipse">
            <a:avLst/>
          </a:prstGeom>
          <a:solidFill>
            <a:srgbClr val="16A34A"/>
          </a:solidFill>
          <a:ln/>
        </p:spPr>
      </p:sp>
      <p:pic>
        <p:nvPicPr>
          <p:cNvPr id="11" name="Image 1" descr="/home/claude/pptx-lienzo/icons/dollar.png">    </p:cNvPr>
          <p:cNvPicPr>
            <a:picLocks noChangeAspect="1"/>
          </p:cNvPicPr>
          <p:nvPr/>
        </p:nvPicPr>
        <p:blipFill>
          <a:blip r:embed="rId2"/>
          <a:stretch>
            <a:fillRect/>
          </a:stretch>
        </p:blipFill>
        <p:spPr>
          <a:xfrm>
            <a:off x="3814877" y="2269541"/>
            <a:ext cx="307238" cy="307238"/>
          </a:xfrm>
          <a:prstGeom prst="rect">
            <a:avLst/>
          </a:prstGeom>
        </p:spPr>
      </p:pic>
      <p:sp>
        <p:nvSpPr>
          <p:cNvPr id="12" name="Text 8"/>
          <p:cNvSpPr/>
          <p:nvPr/>
        </p:nvSpPr>
        <p:spPr>
          <a:xfrm>
            <a:off x="3694176" y="2880360"/>
            <a:ext cx="2066544" cy="320040"/>
          </a:xfrm>
          <a:prstGeom prst="rect">
            <a:avLst/>
          </a:prstGeom>
          <a:noFill/>
          <a:ln/>
        </p:spPr>
        <p:txBody>
          <a:bodyPr wrap="square" lIns="0" tIns="0" rIns="0" bIns="0" rtlCol="0" anchor="ctr"/>
          <a:lstStyle/>
          <a:p>
            <a:pPr indent="0" marL="0">
              <a:buNone/>
            </a:pPr>
            <a:r>
              <a:rPr lang="en-US" sz="1550" b="1" dirty="0">
                <a:solidFill>
                  <a:srgbClr val="0F172A"/>
                </a:solidFill>
                <a:latin typeface="Segoe UI" pitchFamily="34" charset="0"/>
                <a:ea typeface="Segoe UI" pitchFamily="34" charset="-122"/>
                <a:cs typeface="Segoe UI" pitchFamily="34" charset="-120"/>
              </a:rPr>
              <a:t>Económico</a:t>
            </a:r>
            <a:endParaRPr lang="en-US" sz="1550" dirty="0"/>
          </a:p>
        </p:txBody>
      </p:sp>
      <p:sp>
        <p:nvSpPr>
          <p:cNvPr id="13" name="Text 9"/>
          <p:cNvSpPr/>
          <p:nvPr/>
        </p:nvSpPr>
        <p:spPr>
          <a:xfrm>
            <a:off x="3694176" y="3227832"/>
            <a:ext cx="2066544" cy="960120"/>
          </a:xfrm>
          <a:prstGeom prst="rect">
            <a:avLst/>
          </a:prstGeom>
          <a:noFill/>
          <a:ln/>
        </p:spPr>
        <p:txBody>
          <a:bodyPr wrap="square" lIns="0" tIns="0" rIns="0" bIns="0" rtlCol="0" anchor="ctr"/>
          <a:lstStyle/>
          <a:p>
            <a:pPr indent="0" marL="0">
              <a:lnSpc>
                <a:spcPct val="118000"/>
              </a:lnSpc>
              <a:buNone/>
            </a:pPr>
            <a:r>
              <a:rPr lang="en-US" sz="1080" dirty="0">
                <a:solidFill>
                  <a:srgbClr val="64748B"/>
                </a:solidFill>
                <a:latin typeface="Segoe UI" pitchFamily="34" charset="0"/>
                <a:ea typeface="Segoe UI" pitchFamily="34" charset="-122"/>
                <a:cs typeface="Segoe UI" pitchFamily="34" charset="-120"/>
              </a:rPr>
              <a:t>Cero costos de licencias — 100% web y procesado en el navegador del usuario.</a:t>
            </a:r>
            <a:endParaRPr lang="en-US" sz="1080" dirty="0"/>
          </a:p>
        </p:txBody>
      </p:sp>
      <p:sp>
        <p:nvSpPr>
          <p:cNvPr id="14" name="Shape 10"/>
          <p:cNvSpPr/>
          <p:nvPr/>
        </p:nvSpPr>
        <p:spPr>
          <a:xfrm>
            <a:off x="6236208" y="1874520"/>
            <a:ext cx="2578608" cy="2423160"/>
          </a:xfrm>
          <a:prstGeom prst="roundRect">
            <a:avLst>
              <a:gd name="adj" fmla="val 3774"/>
            </a:avLst>
          </a:prstGeom>
          <a:solidFill>
            <a:srgbClr val="FFFFFF"/>
          </a:solidFill>
          <a:ln w="12700">
            <a:solidFill>
              <a:srgbClr val="E2E8F0"/>
            </a:solidFill>
            <a:prstDash val="solid"/>
          </a:ln>
          <a:effectLst>
            <a:outerShdw sx="100000" sy="100000" kx="0" ky="0" algn="bl" rotWithShape="0" blurRad="127000" dist="25400" dir="5400000">
              <a:srgbClr val="0F172A">
                <a:alpha val="8000"/>
              </a:srgbClr>
            </a:outerShdw>
          </a:effectLst>
        </p:spPr>
      </p:sp>
      <p:sp>
        <p:nvSpPr>
          <p:cNvPr id="15" name="Shape 11"/>
          <p:cNvSpPr/>
          <p:nvPr/>
        </p:nvSpPr>
        <p:spPr>
          <a:xfrm>
            <a:off x="6492240" y="2148840"/>
            <a:ext cx="548640" cy="548640"/>
          </a:xfrm>
          <a:prstGeom prst="ellipse">
            <a:avLst/>
          </a:prstGeom>
          <a:solidFill>
            <a:srgbClr val="9333EA"/>
          </a:solidFill>
          <a:ln/>
        </p:spPr>
      </p:sp>
      <p:pic>
        <p:nvPicPr>
          <p:cNvPr id="16" name="Image 2" descr="/home/claude/pptx-lienzo/icons/maximize.png">    </p:cNvPr>
          <p:cNvPicPr>
            <a:picLocks noChangeAspect="1"/>
          </p:cNvPicPr>
          <p:nvPr/>
        </p:nvPicPr>
        <p:blipFill>
          <a:blip r:embed="rId3"/>
          <a:stretch>
            <a:fillRect/>
          </a:stretch>
        </p:blipFill>
        <p:spPr>
          <a:xfrm>
            <a:off x="6612941" y="2269541"/>
            <a:ext cx="307238" cy="307238"/>
          </a:xfrm>
          <a:prstGeom prst="rect">
            <a:avLst/>
          </a:prstGeom>
        </p:spPr>
      </p:pic>
      <p:sp>
        <p:nvSpPr>
          <p:cNvPr id="17" name="Text 12"/>
          <p:cNvSpPr/>
          <p:nvPr/>
        </p:nvSpPr>
        <p:spPr>
          <a:xfrm>
            <a:off x="6492240" y="2880360"/>
            <a:ext cx="2066544" cy="320040"/>
          </a:xfrm>
          <a:prstGeom prst="rect">
            <a:avLst/>
          </a:prstGeom>
          <a:noFill/>
          <a:ln/>
        </p:spPr>
        <p:txBody>
          <a:bodyPr wrap="square" lIns="0" tIns="0" rIns="0" bIns="0" rtlCol="0" anchor="ctr"/>
          <a:lstStyle/>
          <a:p>
            <a:pPr indent="0" marL="0">
              <a:buNone/>
            </a:pPr>
            <a:r>
              <a:rPr lang="en-US" sz="1550" b="1" dirty="0">
                <a:solidFill>
                  <a:srgbClr val="0F172A"/>
                </a:solidFill>
                <a:latin typeface="Segoe UI" pitchFamily="34" charset="0"/>
                <a:ea typeface="Segoe UI" pitchFamily="34" charset="-122"/>
                <a:cs typeface="Segoe UI" pitchFamily="34" charset="-120"/>
              </a:rPr>
              <a:t>Escalabilidad</a:t>
            </a:r>
            <a:endParaRPr lang="en-US" sz="1550" dirty="0"/>
          </a:p>
        </p:txBody>
      </p:sp>
      <p:sp>
        <p:nvSpPr>
          <p:cNvPr id="18" name="Text 13"/>
          <p:cNvSpPr/>
          <p:nvPr/>
        </p:nvSpPr>
        <p:spPr>
          <a:xfrm>
            <a:off x="6492240" y="3227832"/>
            <a:ext cx="2066544" cy="960120"/>
          </a:xfrm>
          <a:prstGeom prst="rect">
            <a:avLst/>
          </a:prstGeom>
          <a:noFill/>
          <a:ln/>
        </p:spPr>
        <p:txBody>
          <a:bodyPr wrap="square" lIns="0" tIns="0" rIns="0" bIns="0" rtlCol="0" anchor="ctr"/>
          <a:lstStyle/>
          <a:p>
            <a:pPr indent="0" marL="0">
              <a:lnSpc>
                <a:spcPct val="118000"/>
              </a:lnSpc>
              <a:buNone/>
            </a:pPr>
            <a:r>
              <a:rPr lang="en-US" sz="1080" dirty="0">
                <a:solidFill>
                  <a:srgbClr val="64748B"/>
                </a:solidFill>
                <a:latin typeface="Segoe UI" pitchFamily="34" charset="0"/>
                <a:ea typeface="Segoe UI" pitchFamily="34" charset="-122"/>
                <a:cs typeface="Segoe UI" pitchFamily="34" charset="-120"/>
              </a:rPr>
              <a:t>Arquitectura agnóstica: sirve para cualquier portal Socrata o DKAN del país.</a:t>
            </a:r>
            <a:endParaRPr lang="en-US" sz="1080" dirty="0"/>
          </a:p>
        </p:txBody>
      </p:sp>
      <p:sp>
        <p:nvSpPr>
          <p:cNvPr id="19" name="Shape 14"/>
          <p:cNvSpPr/>
          <p:nvPr/>
        </p:nvSpPr>
        <p:spPr>
          <a:xfrm>
            <a:off x="9034272" y="1874520"/>
            <a:ext cx="2578608" cy="2423160"/>
          </a:xfrm>
          <a:prstGeom prst="roundRect">
            <a:avLst>
              <a:gd name="adj" fmla="val 3774"/>
            </a:avLst>
          </a:prstGeom>
          <a:solidFill>
            <a:srgbClr val="FFFFFF"/>
          </a:solidFill>
          <a:ln w="12700">
            <a:solidFill>
              <a:srgbClr val="E2E8F0"/>
            </a:solidFill>
            <a:prstDash val="solid"/>
          </a:ln>
          <a:effectLst>
            <a:outerShdw sx="100000" sy="100000" kx="0" ky="0" algn="bl" rotWithShape="0" blurRad="127000" dist="25400" dir="5400000">
              <a:srgbClr val="0F172A">
                <a:alpha val="8000"/>
              </a:srgbClr>
            </a:outerShdw>
          </a:effectLst>
        </p:spPr>
      </p:sp>
      <p:sp>
        <p:nvSpPr>
          <p:cNvPr id="20" name="Shape 15"/>
          <p:cNvSpPr/>
          <p:nvPr/>
        </p:nvSpPr>
        <p:spPr>
          <a:xfrm>
            <a:off x="9290304" y="2148840"/>
            <a:ext cx="548640" cy="548640"/>
          </a:xfrm>
          <a:prstGeom prst="ellipse">
            <a:avLst/>
          </a:prstGeom>
          <a:solidFill>
            <a:srgbClr val="0F172A"/>
          </a:solidFill>
          <a:ln/>
        </p:spPr>
      </p:sp>
      <p:pic>
        <p:nvPicPr>
          <p:cNvPr id="21" name="Image 3" descr="/home/claude/pptx-lienzo/icons/heart.png">    </p:cNvPr>
          <p:cNvPicPr>
            <a:picLocks noChangeAspect="1"/>
          </p:cNvPicPr>
          <p:nvPr/>
        </p:nvPicPr>
        <p:blipFill>
          <a:blip r:embed="rId4"/>
          <a:stretch>
            <a:fillRect/>
          </a:stretch>
        </p:blipFill>
        <p:spPr>
          <a:xfrm>
            <a:off x="9411005" y="2269541"/>
            <a:ext cx="307238" cy="307238"/>
          </a:xfrm>
          <a:prstGeom prst="rect">
            <a:avLst/>
          </a:prstGeom>
        </p:spPr>
      </p:pic>
      <p:sp>
        <p:nvSpPr>
          <p:cNvPr id="22" name="Text 16"/>
          <p:cNvSpPr/>
          <p:nvPr/>
        </p:nvSpPr>
        <p:spPr>
          <a:xfrm>
            <a:off x="9290304" y="2880360"/>
            <a:ext cx="2066544" cy="320040"/>
          </a:xfrm>
          <a:prstGeom prst="rect">
            <a:avLst/>
          </a:prstGeom>
          <a:noFill/>
          <a:ln/>
        </p:spPr>
        <p:txBody>
          <a:bodyPr wrap="square" lIns="0" tIns="0" rIns="0" bIns="0" rtlCol="0" anchor="ctr"/>
          <a:lstStyle/>
          <a:p>
            <a:pPr indent="0" marL="0">
              <a:buNone/>
            </a:pPr>
            <a:r>
              <a:rPr lang="en-US" sz="1550" b="1" dirty="0">
                <a:solidFill>
                  <a:srgbClr val="0F172A"/>
                </a:solidFill>
                <a:latin typeface="Segoe UI" pitchFamily="34" charset="0"/>
                <a:ea typeface="Segoe UI" pitchFamily="34" charset="-122"/>
                <a:cs typeface="Segoe UI" pitchFamily="34" charset="-120"/>
              </a:rPr>
              <a:t>Sostenible</a:t>
            </a:r>
            <a:endParaRPr lang="en-US" sz="1550" dirty="0"/>
          </a:p>
        </p:txBody>
      </p:sp>
      <p:sp>
        <p:nvSpPr>
          <p:cNvPr id="23" name="Text 17"/>
          <p:cNvSpPr/>
          <p:nvPr/>
        </p:nvSpPr>
        <p:spPr>
          <a:xfrm>
            <a:off x="9290304" y="3227832"/>
            <a:ext cx="2066544" cy="960120"/>
          </a:xfrm>
          <a:prstGeom prst="rect">
            <a:avLst/>
          </a:prstGeom>
          <a:noFill/>
          <a:ln/>
        </p:spPr>
        <p:txBody>
          <a:bodyPr wrap="square" lIns="0" tIns="0" rIns="0" bIns="0" rtlCol="0" anchor="ctr"/>
          <a:lstStyle/>
          <a:p>
            <a:pPr indent="0" marL="0">
              <a:lnSpc>
                <a:spcPct val="118000"/>
              </a:lnSpc>
              <a:buNone/>
            </a:pPr>
            <a:r>
              <a:rPr lang="en-US" sz="1080" dirty="0">
                <a:solidFill>
                  <a:srgbClr val="64748B"/>
                </a:solidFill>
                <a:latin typeface="Segoe UI" pitchFamily="34" charset="0"/>
                <a:ea typeface="Segoe UI" pitchFamily="34" charset="-122"/>
                <a:cs typeface="Segoe UI" pitchFamily="34" charset="-120"/>
              </a:rPr>
              <a:t>Procesamiento local, ideal para municipios con bajos recursos tecnológicos.</a:t>
            </a:r>
            <a:endParaRPr lang="en-US" sz="1080" dirty="0"/>
          </a:p>
        </p:txBody>
      </p:sp>
      <p:sp>
        <p:nvSpPr>
          <p:cNvPr id="24" name="Text 18"/>
          <p:cNvSpPr/>
          <p:nvPr/>
        </p:nvSpPr>
        <p:spPr>
          <a:xfrm>
            <a:off x="640080" y="4709160"/>
            <a:ext cx="10881360" cy="274320"/>
          </a:xfrm>
          <a:prstGeom prst="rect">
            <a:avLst/>
          </a:prstGeom>
          <a:noFill/>
          <a:ln/>
        </p:spPr>
        <p:txBody>
          <a:bodyPr wrap="square" lIns="0" tIns="0" rIns="0" bIns="0" rtlCol="0" anchor="ctr"/>
          <a:lstStyle/>
          <a:p>
            <a:pPr algn="ctr" indent="0" marL="0">
              <a:buNone/>
            </a:pPr>
            <a:r>
              <a:rPr lang="en-US" sz="1050" b="1" spc="100" kern="0" dirty="0">
                <a:solidFill>
                  <a:srgbClr val="64748B"/>
                </a:solidFill>
                <a:latin typeface="Segoe UI" pitchFamily="34" charset="0"/>
                <a:ea typeface="Segoe UI" pitchFamily="34" charset="-122"/>
                <a:cs typeface="Segoe UI" pitchFamily="34" charset="-120"/>
              </a:rPr>
              <a:t>HOY: EL ROSAL   →   MAÑANA: CUALQUIER MUNICIPIO CON PORTAL DE DATOS ABIERTOS</a:t>
            </a:r>
            <a:endParaRPr lang="en-US" sz="1050" dirty="0"/>
          </a:p>
        </p:txBody>
      </p:sp>
      <p:sp>
        <p:nvSpPr>
          <p:cNvPr id="25" name="Shape 19"/>
          <p:cNvSpPr/>
          <p:nvPr/>
        </p:nvSpPr>
        <p:spPr>
          <a:xfrm>
            <a:off x="1234440" y="5440680"/>
            <a:ext cx="1371600" cy="0"/>
          </a:xfrm>
          <a:prstGeom prst="line">
            <a:avLst/>
          </a:prstGeom>
          <a:noFill/>
          <a:ln w="19050">
            <a:solidFill>
              <a:srgbClr val="E2E8F0"/>
            </a:solidFill>
            <a:prstDash val="dash"/>
          </a:ln>
        </p:spPr>
      </p:sp>
      <p:sp>
        <p:nvSpPr>
          <p:cNvPr id="26" name="Shape 20"/>
          <p:cNvSpPr/>
          <p:nvPr/>
        </p:nvSpPr>
        <p:spPr>
          <a:xfrm>
            <a:off x="2880360" y="5440680"/>
            <a:ext cx="1371600" cy="0"/>
          </a:xfrm>
          <a:prstGeom prst="line">
            <a:avLst/>
          </a:prstGeom>
          <a:noFill/>
          <a:ln w="19050">
            <a:solidFill>
              <a:srgbClr val="E2E8F0"/>
            </a:solidFill>
            <a:prstDash val="dash"/>
          </a:ln>
        </p:spPr>
      </p:sp>
      <p:sp>
        <p:nvSpPr>
          <p:cNvPr id="27" name="Shape 21"/>
          <p:cNvSpPr/>
          <p:nvPr/>
        </p:nvSpPr>
        <p:spPr>
          <a:xfrm>
            <a:off x="4526280" y="5440680"/>
            <a:ext cx="1371600" cy="0"/>
          </a:xfrm>
          <a:prstGeom prst="line">
            <a:avLst/>
          </a:prstGeom>
          <a:noFill/>
          <a:ln w="19050">
            <a:solidFill>
              <a:srgbClr val="E2E8F0"/>
            </a:solidFill>
            <a:prstDash val="dash"/>
          </a:ln>
        </p:spPr>
      </p:sp>
      <p:sp>
        <p:nvSpPr>
          <p:cNvPr id="28" name="Shape 22"/>
          <p:cNvSpPr/>
          <p:nvPr/>
        </p:nvSpPr>
        <p:spPr>
          <a:xfrm>
            <a:off x="6172200" y="5440680"/>
            <a:ext cx="1371600" cy="0"/>
          </a:xfrm>
          <a:prstGeom prst="line">
            <a:avLst/>
          </a:prstGeom>
          <a:noFill/>
          <a:ln w="19050">
            <a:solidFill>
              <a:srgbClr val="E2E8F0"/>
            </a:solidFill>
            <a:prstDash val="dash"/>
          </a:ln>
        </p:spPr>
      </p:sp>
      <p:sp>
        <p:nvSpPr>
          <p:cNvPr id="29" name="Shape 23"/>
          <p:cNvSpPr/>
          <p:nvPr/>
        </p:nvSpPr>
        <p:spPr>
          <a:xfrm>
            <a:off x="7818120" y="5440680"/>
            <a:ext cx="1371600" cy="0"/>
          </a:xfrm>
          <a:prstGeom prst="line">
            <a:avLst/>
          </a:prstGeom>
          <a:noFill/>
          <a:ln w="19050">
            <a:solidFill>
              <a:srgbClr val="E2E8F0"/>
            </a:solidFill>
            <a:prstDash val="dash"/>
          </a:ln>
        </p:spPr>
      </p:sp>
      <p:sp>
        <p:nvSpPr>
          <p:cNvPr id="30" name="Shape 24"/>
          <p:cNvSpPr/>
          <p:nvPr/>
        </p:nvSpPr>
        <p:spPr>
          <a:xfrm>
            <a:off x="9464040" y="5440680"/>
            <a:ext cx="1371600" cy="0"/>
          </a:xfrm>
          <a:prstGeom prst="line">
            <a:avLst/>
          </a:prstGeom>
          <a:noFill/>
          <a:ln w="19050">
            <a:solidFill>
              <a:srgbClr val="E2E8F0"/>
            </a:solidFill>
            <a:prstDash val="dash"/>
          </a:ln>
        </p:spPr>
      </p:sp>
      <p:sp>
        <p:nvSpPr>
          <p:cNvPr id="31" name="Shape 25"/>
          <p:cNvSpPr/>
          <p:nvPr/>
        </p:nvSpPr>
        <p:spPr>
          <a:xfrm>
            <a:off x="1097280" y="5303520"/>
            <a:ext cx="274320" cy="274320"/>
          </a:xfrm>
          <a:prstGeom prst="ellipse">
            <a:avLst/>
          </a:prstGeom>
          <a:solidFill>
            <a:srgbClr val="0EA5E9"/>
          </a:solidFill>
          <a:ln/>
        </p:spPr>
      </p:sp>
      <p:sp>
        <p:nvSpPr>
          <p:cNvPr id="32" name="Text 26"/>
          <p:cNvSpPr/>
          <p:nvPr/>
        </p:nvSpPr>
        <p:spPr>
          <a:xfrm>
            <a:off x="777240" y="5596128"/>
            <a:ext cx="914400" cy="228600"/>
          </a:xfrm>
          <a:prstGeom prst="rect">
            <a:avLst/>
          </a:prstGeom>
          <a:noFill/>
          <a:ln/>
        </p:spPr>
        <p:txBody>
          <a:bodyPr wrap="square" lIns="0" tIns="0" rIns="0" bIns="0" rtlCol="0" anchor="ctr"/>
          <a:lstStyle/>
          <a:p>
            <a:pPr algn="ctr" indent="0" marL="0">
              <a:buNone/>
            </a:pPr>
            <a:r>
              <a:rPr lang="en-US" sz="900" b="1" dirty="0">
                <a:solidFill>
                  <a:srgbClr val="0EA5E9"/>
                </a:solidFill>
                <a:latin typeface="Segoe UI" pitchFamily="34" charset="0"/>
                <a:ea typeface="Segoe UI" pitchFamily="34" charset="-122"/>
                <a:cs typeface="Segoe UI" pitchFamily="34" charset="-120"/>
              </a:rPr>
              <a:t>El Rosal</a:t>
            </a:r>
            <a:endParaRPr lang="en-US" sz="900" dirty="0"/>
          </a:p>
        </p:txBody>
      </p:sp>
      <p:sp>
        <p:nvSpPr>
          <p:cNvPr id="33" name="Shape 27"/>
          <p:cNvSpPr/>
          <p:nvPr/>
        </p:nvSpPr>
        <p:spPr>
          <a:xfrm>
            <a:off x="2743200" y="5303520"/>
            <a:ext cx="274320" cy="274320"/>
          </a:xfrm>
          <a:prstGeom prst="ellipse">
            <a:avLst/>
          </a:prstGeom>
          <a:solidFill>
            <a:srgbClr val="CBD5E1"/>
          </a:solidFill>
          <a:ln/>
        </p:spPr>
      </p:sp>
      <p:sp>
        <p:nvSpPr>
          <p:cNvPr id="34" name="Shape 28"/>
          <p:cNvSpPr/>
          <p:nvPr/>
        </p:nvSpPr>
        <p:spPr>
          <a:xfrm>
            <a:off x="4389120" y="5303520"/>
            <a:ext cx="274320" cy="274320"/>
          </a:xfrm>
          <a:prstGeom prst="ellipse">
            <a:avLst/>
          </a:prstGeom>
          <a:solidFill>
            <a:srgbClr val="CBD5E1"/>
          </a:solidFill>
          <a:ln/>
        </p:spPr>
      </p:sp>
      <p:sp>
        <p:nvSpPr>
          <p:cNvPr id="35" name="Shape 29"/>
          <p:cNvSpPr/>
          <p:nvPr/>
        </p:nvSpPr>
        <p:spPr>
          <a:xfrm>
            <a:off x="6035040" y="5303520"/>
            <a:ext cx="274320" cy="274320"/>
          </a:xfrm>
          <a:prstGeom prst="ellipse">
            <a:avLst/>
          </a:prstGeom>
          <a:solidFill>
            <a:srgbClr val="CBD5E1"/>
          </a:solidFill>
          <a:ln/>
        </p:spPr>
      </p:sp>
      <p:sp>
        <p:nvSpPr>
          <p:cNvPr id="36" name="Shape 30"/>
          <p:cNvSpPr/>
          <p:nvPr/>
        </p:nvSpPr>
        <p:spPr>
          <a:xfrm>
            <a:off x="7680960" y="5303520"/>
            <a:ext cx="274320" cy="274320"/>
          </a:xfrm>
          <a:prstGeom prst="ellipse">
            <a:avLst/>
          </a:prstGeom>
          <a:solidFill>
            <a:srgbClr val="CBD5E1"/>
          </a:solidFill>
          <a:ln/>
        </p:spPr>
      </p:sp>
      <p:sp>
        <p:nvSpPr>
          <p:cNvPr id="37" name="Shape 31"/>
          <p:cNvSpPr/>
          <p:nvPr/>
        </p:nvSpPr>
        <p:spPr>
          <a:xfrm>
            <a:off x="9326880" y="5303520"/>
            <a:ext cx="274320" cy="274320"/>
          </a:xfrm>
          <a:prstGeom prst="ellipse">
            <a:avLst/>
          </a:prstGeom>
          <a:solidFill>
            <a:srgbClr val="CBD5E1"/>
          </a:solidFill>
          <a:ln/>
        </p:spPr>
      </p:sp>
      <p:sp>
        <p:nvSpPr>
          <p:cNvPr id="38" name="Shape 32"/>
          <p:cNvSpPr/>
          <p:nvPr/>
        </p:nvSpPr>
        <p:spPr>
          <a:xfrm>
            <a:off x="10972800" y="5303520"/>
            <a:ext cx="274320" cy="274320"/>
          </a:xfrm>
          <a:prstGeom prst="ellipse">
            <a:avLst/>
          </a:prstGeom>
          <a:solidFill>
            <a:srgbClr val="CBD5E1"/>
          </a:solidFill>
          <a:ln/>
        </p:spPr>
      </p:sp>
      <p:sp>
        <p:nvSpPr>
          <p:cNvPr id="39" name="Text 33"/>
          <p:cNvSpPr/>
          <p:nvPr/>
        </p:nvSpPr>
        <p:spPr>
          <a:xfrm>
            <a:off x="640080" y="6419088"/>
            <a:ext cx="4572000" cy="274320"/>
          </a:xfrm>
          <a:prstGeom prst="rect">
            <a:avLst/>
          </a:prstGeom>
          <a:noFill/>
          <a:ln/>
        </p:spPr>
        <p:txBody>
          <a:bodyPr wrap="square" lIns="0" tIns="0" rIns="0" bIns="0" rtlCol="0" anchor="ctr"/>
          <a:lstStyle/>
          <a:p>
            <a:pPr indent="0" marL="0">
              <a:buNone/>
            </a:pPr>
            <a:r>
              <a:rPr lang="en-US" sz="950" spc="100" kern="0" dirty="0">
                <a:solidFill>
                  <a:srgbClr val="64748B"/>
                </a:solidFill>
                <a:latin typeface="Segoe UI" pitchFamily="34" charset="0"/>
                <a:ea typeface="Segoe UI" pitchFamily="34" charset="-122"/>
                <a:cs typeface="Segoe UI" pitchFamily="34" charset="-120"/>
              </a:rPr>
              <a:t>EL ROSAL · LIENZO EJECUTIVO</a:t>
            </a:r>
            <a:endParaRPr lang="en-US" sz="950" dirty="0"/>
          </a:p>
        </p:txBody>
      </p:sp>
      <p:sp>
        <p:nvSpPr>
          <p:cNvPr id="40" name="Text 34"/>
          <p:cNvSpPr/>
          <p:nvPr/>
        </p:nvSpPr>
        <p:spPr>
          <a:xfrm>
            <a:off x="11000232" y="6419088"/>
            <a:ext cx="914400" cy="274320"/>
          </a:xfrm>
          <a:prstGeom prst="rect">
            <a:avLst/>
          </a:prstGeom>
          <a:noFill/>
          <a:ln/>
        </p:spPr>
        <p:txBody>
          <a:bodyPr wrap="square" lIns="0" tIns="0" rIns="0" bIns="0" rtlCol="0" anchor="ctr"/>
          <a:lstStyle/>
          <a:p>
            <a:pPr algn="r" indent="0" marL="0">
              <a:buNone/>
            </a:pPr>
            <a:r>
              <a:rPr lang="en-US" sz="950" dirty="0">
                <a:solidFill>
                  <a:srgbClr val="64748B"/>
                </a:solidFill>
                <a:latin typeface="Segoe UI" pitchFamily="34" charset="0"/>
                <a:ea typeface="Segoe UI" pitchFamily="34" charset="-122"/>
                <a:cs typeface="Segoe UI" pitchFamily="34" charset="-120"/>
              </a:rPr>
              <a:t>08 / 10</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480560" y="1463040"/>
            <a:ext cx="3200400" cy="3200400"/>
          </a:xfrm>
          <a:prstGeom prst="ellipse">
            <a:avLst/>
          </a:prstGeom>
          <a:solidFill>
            <a:srgbClr val="0EA5E9">
              <a:alpha val="10000"/>
            </a:srgbClr>
          </a:solidFill>
          <a:ln/>
        </p:spPr>
      </p:sp>
      <p:sp>
        <p:nvSpPr>
          <p:cNvPr id="3" name="Shape 1"/>
          <p:cNvSpPr/>
          <p:nvPr/>
        </p:nvSpPr>
        <p:spPr>
          <a:xfrm>
            <a:off x="5623560" y="2606040"/>
            <a:ext cx="960120" cy="960120"/>
          </a:xfrm>
          <a:prstGeom prst="ellipse">
            <a:avLst/>
          </a:prstGeom>
          <a:solidFill>
            <a:srgbClr val="0EA5E9"/>
          </a:solidFill>
          <a:ln/>
        </p:spPr>
      </p:sp>
      <p:pic>
        <p:nvPicPr>
          <p:cNvPr id="4" name="Image 0" descr="/home/claude/pptx-lienzo/icons/play.png">    </p:cNvPr>
          <p:cNvPicPr>
            <a:picLocks noChangeAspect="1"/>
          </p:cNvPicPr>
          <p:nvPr/>
        </p:nvPicPr>
        <p:blipFill>
          <a:blip r:embed="rId1"/>
          <a:stretch>
            <a:fillRect/>
          </a:stretch>
        </p:blipFill>
        <p:spPr>
          <a:xfrm>
            <a:off x="5863590" y="2846070"/>
            <a:ext cx="480060" cy="480060"/>
          </a:xfrm>
          <a:prstGeom prst="rect">
            <a:avLst/>
          </a:prstGeom>
        </p:spPr>
      </p:pic>
      <p:sp>
        <p:nvSpPr>
          <p:cNvPr id="5" name="Text 2"/>
          <p:cNvSpPr/>
          <p:nvPr/>
        </p:nvSpPr>
        <p:spPr>
          <a:xfrm>
            <a:off x="0" y="3794760"/>
            <a:ext cx="12188952" cy="685800"/>
          </a:xfrm>
          <a:prstGeom prst="rect">
            <a:avLst/>
          </a:prstGeom>
          <a:noFill/>
          <a:ln/>
        </p:spPr>
        <p:txBody>
          <a:bodyPr wrap="square" lIns="0" tIns="0" rIns="0" bIns="0" rtlCol="0" anchor="ctr"/>
          <a:lstStyle/>
          <a:p>
            <a:pPr algn="ctr" indent="0" marL="0">
              <a:buNone/>
            </a:pPr>
            <a:r>
              <a:rPr lang="en-US" sz="3200" b="1" dirty="0">
                <a:solidFill>
                  <a:srgbClr val="FFFFFF"/>
                </a:solidFill>
                <a:latin typeface="Segoe UI" pitchFamily="34" charset="0"/>
                <a:ea typeface="Segoe UI" pitchFamily="34" charset="-122"/>
                <a:cs typeface="Segoe UI" pitchFamily="34" charset="-120"/>
              </a:rPr>
              <a:t>Demostración en Vivo</a:t>
            </a:r>
            <a:endParaRPr lang="en-US" sz="3200" dirty="0"/>
          </a:p>
        </p:txBody>
      </p:sp>
      <p:sp>
        <p:nvSpPr>
          <p:cNvPr id="6" name="Text 3"/>
          <p:cNvSpPr/>
          <p:nvPr/>
        </p:nvSpPr>
        <p:spPr>
          <a:xfrm>
            <a:off x="0" y="4434840"/>
            <a:ext cx="12188952" cy="457200"/>
          </a:xfrm>
          <a:prstGeom prst="rect">
            <a:avLst/>
          </a:prstGeom>
          <a:noFill/>
          <a:ln/>
        </p:spPr>
        <p:txBody>
          <a:bodyPr wrap="square" lIns="0" tIns="0" rIns="0" bIns="0" rtlCol="0" anchor="ctr"/>
          <a:lstStyle/>
          <a:p>
            <a:pPr algn="ctr" indent="0" marL="0">
              <a:buNone/>
            </a:pPr>
            <a:r>
              <a:rPr lang="en-US" sz="1400" dirty="0">
                <a:solidFill>
                  <a:srgbClr val="94A3B8"/>
                </a:solidFill>
                <a:latin typeface="Segoe UI" pitchFamily="34" charset="0"/>
                <a:ea typeface="Segoe UI" pitchFamily="34" charset="-122"/>
                <a:cs typeface="Segoe UI" pitchFamily="34" charset="-120"/>
              </a:rPr>
              <a:t>datos.gov.co  →  Plan de panel  →  Generar Lienzo  →  Descargar PDF</a:t>
            </a:r>
            <a:endParaRPr lang="en-US" sz="1400" dirty="0"/>
          </a:p>
        </p:txBody>
      </p:sp>
      <p:sp>
        <p:nvSpPr>
          <p:cNvPr id="7" name="Text 4"/>
          <p:cNvSpPr/>
          <p:nvPr/>
        </p:nvSpPr>
        <p:spPr>
          <a:xfrm>
            <a:off x="11000232" y="6419088"/>
            <a:ext cx="914400" cy="274320"/>
          </a:xfrm>
          <a:prstGeom prst="rect">
            <a:avLst/>
          </a:prstGeom>
          <a:noFill/>
          <a:ln/>
        </p:spPr>
        <p:txBody>
          <a:bodyPr wrap="square" lIns="0" tIns="0" rIns="0" bIns="0" rtlCol="0" anchor="ctr"/>
          <a:lstStyle/>
          <a:p>
            <a:pPr algn="r" indent="0" marL="0">
              <a:buNone/>
            </a:pPr>
            <a:r>
              <a:rPr lang="en-US" sz="950" dirty="0">
                <a:solidFill>
                  <a:srgbClr val="64748B"/>
                </a:solidFill>
                <a:latin typeface="Segoe UI" pitchFamily="34" charset="0"/>
                <a:ea typeface="Segoe UI" pitchFamily="34" charset="-122"/>
                <a:cs typeface="Segoe UI" pitchFamily="34" charset="-120"/>
              </a:rPr>
              <a:t>09 / 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1E3A5F">
              <a:alpha val="45000"/>
            </a:srgbClr>
          </a:solidFill>
          <a:ln/>
        </p:spPr>
      </p:sp>
      <p:sp>
        <p:nvSpPr>
          <p:cNvPr id="3" name="Text 1"/>
          <p:cNvSpPr/>
          <p:nvPr/>
        </p:nvSpPr>
        <p:spPr>
          <a:xfrm>
            <a:off x="822960" y="1371600"/>
            <a:ext cx="10515600" cy="1463040"/>
          </a:xfrm>
          <a:prstGeom prst="rect">
            <a:avLst/>
          </a:prstGeom>
          <a:noFill/>
          <a:ln/>
        </p:spPr>
        <p:txBody>
          <a:bodyPr wrap="square" lIns="0" tIns="0" rIns="0" bIns="0" rtlCol="0" anchor="ctr"/>
          <a:lstStyle/>
          <a:p>
            <a:pPr indent="0" marL="0">
              <a:lnSpc>
                <a:spcPts val="3800"/>
              </a:lnSpc>
              <a:buNone/>
            </a:pPr>
            <a:r>
              <a:rPr lang="en-US" sz="3200" b="1" dirty="0">
                <a:solidFill>
                  <a:srgbClr val="FFFFFF"/>
                </a:solidFill>
                <a:latin typeface="Segoe UI" pitchFamily="34" charset="0"/>
                <a:ea typeface="Segoe UI" pitchFamily="34" charset="-122"/>
                <a:cs typeface="Segoe UI" pitchFamily="34" charset="-120"/>
              </a:rPr>
              <a:t>Transformando Datos Abiertos</a:t>
            </a:r>
            <a:endParaRPr lang="en-US" sz="3200" dirty="0"/>
          </a:p>
          <a:p>
            <a:pPr indent="0" marL="0">
              <a:lnSpc>
                <a:spcPts val="3800"/>
              </a:lnSpc>
              <a:buNone/>
            </a:pPr>
            <a:r>
              <a:rPr lang="en-US" sz="3200" b="1" dirty="0">
                <a:solidFill>
                  <a:srgbClr val="FFFFFF"/>
                </a:solidFill>
                <a:latin typeface="Segoe UI" pitchFamily="34" charset="0"/>
                <a:ea typeface="Segoe UI" pitchFamily="34" charset="-122"/>
                <a:cs typeface="Segoe UI" pitchFamily="34" charset="-120"/>
              </a:rPr>
              <a:t>en Conocimiento Accionable</a:t>
            </a:r>
            <a:endParaRPr lang="en-US" sz="3200" dirty="0"/>
          </a:p>
        </p:txBody>
      </p:sp>
      <p:sp>
        <p:nvSpPr>
          <p:cNvPr id="4" name="Text 2"/>
          <p:cNvSpPr/>
          <p:nvPr/>
        </p:nvSpPr>
        <p:spPr>
          <a:xfrm>
            <a:off x="822960" y="3063240"/>
            <a:ext cx="9601200" cy="548640"/>
          </a:xfrm>
          <a:prstGeom prst="rect">
            <a:avLst/>
          </a:prstGeom>
          <a:noFill/>
          <a:ln/>
        </p:spPr>
        <p:txBody>
          <a:bodyPr wrap="square" lIns="0" tIns="0" rIns="0" bIns="0" rtlCol="0" anchor="ctr"/>
          <a:lstStyle/>
          <a:p>
            <a:pPr indent="0" marL="0">
              <a:buNone/>
            </a:pPr>
            <a:r>
              <a:rPr lang="en-US" sz="1700" i="1" dirty="0">
                <a:solidFill>
                  <a:srgbClr val="0EA5E9"/>
                </a:solidFill>
                <a:latin typeface="Segoe UI" pitchFamily="34" charset="0"/>
                <a:ea typeface="Segoe UI" pitchFamily="34" charset="-122"/>
                <a:cs typeface="Segoe UI" pitchFamily="34" charset="-120"/>
              </a:rPr>
              <a:t>“La transparencia solo es útil cuando se entiende.”</a:t>
            </a:r>
            <a:endParaRPr lang="en-US" sz="1700" dirty="0"/>
          </a:p>
        </p:txBody>
      </p:sp>
      <p:sp>
        <p:nvSpPr>
          <p:cNvPr id="5" name="Shape 3"/>
          <p:cNvSpPr/>
          <p:nvPr/>
        </p:nvSpPr>
        <p:spPr>
          <a:xfrm>
            <a:off x="822960" y="3931920"/>
            <a:ext cx="2926080" cy="0"/>
          </a:xfrm>
          <a:prstGeom prst="line">
            <a:avLst/>
          </a:prstGeom>
          <a:noFill/>
          <a:ln w="12700">
            <a:solidFill>
              <a:srgbClr val="334155"/>
            </a:solidFill>
            <a:prstDash val="solid"/>
          </a:ln>
        </p:spPr>
      </p:sp>
      <p:sp>
        <p:nvSpPr>
          <p:cNvPr id="6" name="Text 4"/>
          <p:cNvSpPr/>
          <p:nvPr/>
        </p:nvSpPr>
        <p:spPr>
          <a:xfrm>
            <a:off x="822960" y="4160520"/>
            <a:ext cx="7315200" cy="274320"/>
          </a:xfrm>
          <a:prstGeom prst="rect">
            <a:avLst/>
          </a:prstGeom>
          <a:noFill/>
          <a:ln/>
        </p:spPr>
        <p:txBody>
          <a:bodyPr wrap="square" lIns="0" tIns="0" rIns="0" bIns="0" rtlCol="0" anchor="ctr"/>
          <a:lstStyle/>
          <a:p>
            <a:pPr indent="0" marL="0">
              <a:buNone/>
            </a:pPr>
            <a:r>
              <a:rPr lang="en-US" sz="1100" b="1" spc="150" kern="0" dirty="0">
                <a:solidFill>
                  <a:srgbClr val="0EA5E9"/>
                </a:solidFill>
                <a:latin typeface="Segoe UI" pitchFamily="34" charset="0"/>
                <a:ea typeface="Segoe UI" pitchFamily="34" charset="-122"/>
                <a:cs typeface="Segoe UI" pitchFamily="34" charset="-120"/>
              </a:rPr>
              <a:t>MUNICIPIO DE EL ROSAL, CUNDINAMARCA</a:t>
            </a:r>
            <a:endParaRPr lang="en-US" sz="1100" dirty="0"/>
          </a:p>
        </p:txBody>
      </p:sp>
      <p:sp>
        <p:nvSpPr>
          <p:cNvPr id="7" name="Text 5"/>
          <p:cNvSpPr/>
          <p:nvPr/>
        </p:nvSpPr>
        <p:spPr>
          <a:xfrm>
            <a:off x="822960" y="4434840"/>
            <a:ext cx="7315200" cy="274320"/>
          </a:xfrm>
          <a:prstGeom prst="rect">
            <a:avLst/>
          </a:prstGeom>
          <a:noFill/>
          <a:ln/>
        </p:spPr>
        <p:txBody>
          <a:bodyPr wrap="square" lIns="0" tIns="0" rIns="0" bIns="0" rtlCol="0" anchor="ctr"/>
          <a:lstStyle/>
          <a:p>
            <a:pPr indent="0" marL="0">
              <a:buNone/>
            </a:pPr>
            <a:r>
              <a:rPr lang="en-US" sz="1200" dirty="0">
                <a:solidFill>
                  <a:srgbClr val="CBD5E1"/>
                </a:solidFill>
                <a:latin typeface="Segoe UI" pitchFamily="34" charset="0"/>
                <a:ea typeface="Segoe UI" pitchFamily="34" charset="-122"/>
                <a:cs typeface="Segoe UI" pitchFamily="34" charset="-120"/>
              </a:rPr>
              <a:t>Concurso Datos al Ecosistema 2026 — Innovación y Tecnología</a:t>
            </a:r>
            <a:endParaRPr lang="en-US" sz="1200" dirty="0"/>
          </a:p>
        </p:txBody>
      </p:sp>
      <p:sp>
        <p:nvSpPr>
          <p:cNvPr id="8" name="Shape 6"/>
          <p:cNvSpPr/>
          <p:nvPr/>
        </p:nvSpPr>
        <p:spPr>
          <a:xfrm>
            <a:off x="822960" y="4983480"/>
            <a:ext cx="457200" cy="457200"/>
          </a:xfrm>
          <a:prstGeom prst="ellipse">
            <a:avLst/>
          </a:prstGeom>
          <a:solidFill>
            <a:srgbClr val="0EA5E9"/>
          </a:solidFill>
          <a:ln/>
        </p:spPr>
      </p:sp>
      <p:pic>
        <p:nvPicPr>
          <p:cNvPr id="9" name="Image 0" descr="/home/claude/pptx-lienzo/icons/mail.png">    </p:cNvPr>
          <p:cNvPicPr>
            <a:picLocks noChangeAspect="1"/>
          </p:cNvPicPr>
          <p:nvPr/>
        </p:nvPicPr>
        <p:blipFill>
          <a:blip r:embed="rId1"/>
          <a:stretch>
            <a:fillRect/>
          </a:stretch>
        </p:blipFill>
        <p:spPr>
          <a:xfrm>
            <a:off x="937260" y="5097780"/>
            <a:ext cx="228600" cy="228600"/>
          </a:xfrm>
          <a:prstGeom prst="rect">
            <a:avLst/>
          </a:prstGeom>
        </p:spPr>
      </p:pic>
      <p:sp>
        <p:nvSpPr>
          <p:cNvPr id="10" name="Text 7"/>
          <p:cNvSpPr/>
          <p:nvPr/>
        </p:nvSpPr>
        <p:spPr>
          <a:xfrm>
            <a:off x="1417320" y="4983480"/>
            <a:ext cx="5486400" cy="457200"/>
          </a:xfrm>
          <a:prstGeom prst="rect">
            <a:avLst/>
          </a:prstGeom>
          <a:noFill/>
          <a:ln/>
        </p:spPr>
        <p:txBody>
          <a:bodyPr wrap="square" lIns="0" tIns="0" rIns="0" bIns="0" rtlCol="0" anchor="ctr"/>
          <a:lstStyle/>
          <a:p>
            <a:pPr indent="0" marL="0">
              <a:buNone/>
            </a:pPr>
            <a:r>
              <a:rPr lang="en-US" sz="1250" dirty="0">
                <a:solidFill>
                  <a:srgbClr val="FFFFFF"/>
                </a:solidFill>
                <a:latin typeface="Segoe UI" pitchFamily="34" charset="0"/>
                <a:ea typeface="Segoe UI" pitchFamily="34" charset="-122"/>
                <a:cs typeface="Segoe UI" pitchFamily="34" charset="-120"/>
              </a:rPr>
              <a:t>contacto@elrosal-cundinamarca.gov.co</a:t>
            </a:r>
            <a:endParaRPr lang="en-US" sz="1250" dirty="0"/>
          </a:p>
        </p:txBody>
      </p:sp>
      <p:sp>
        <p:nvSpPr>
          <p:cNvPr id="11" name="Text 8"/>
          <p:cNvSpPr/>
          <p:nvPr/>
        </p:nvSpPr>
        <p:spPr>
          <a:xfrm>
            <a:off x="822960" y="5852160"/>
            <a:ext cx="5486400" cy="457200"/>
          </a:xfrm>
          <a:prstGeom prst="rect">
            <a:avLst/>
          </a:prstGeom>
          <a:noFill/>
          <a:ln/>
        </p:spPr>
        <p:txBody>
          <a:bodyPr wrap="square" lIns="0" tIns="0" rIns="0" bIns="0"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Muchas gracias.</a:t>
            </a:r>
            <a:endParaRPr lang="en-US" sz="1500" dirty="0"/>
          </a:p>
        </p:txBody>
      </p:sp>
      <p:sp>
        <p:nvSpPr>
          <p:cNvPr id="12" name="Text 9"/>
          <p:cNvSpPr/>
          <p:nvPr/>
        </p:nvSpPr>
        <p:spPr>
          <a:xfrm>
            <a:off x="11000232" y="6419088"/>
            <a:ext cx="914400" cy="274320"/>
          </a:xfrm>
          <a:prstGeom prst="rect">
            <a:avLst/>
          </a:prstGeom>
          <a:noFill/>
          <a:ln/>
        </p:spPr>
        <p:txBody>
          <a:bodyPr wrap="square" lIns="0" tIns="0" rIns="0" bIns="0" rtlCol="0" anchor="ctr"/>
          <a:lstStyle/>
          <a:p>
            <a:pPr algn="r" indent="0" marL="0">
              <a:buNone/>
            </a:pPr>
            <a:r>
              <a:rPr lang="en-US" sz="950" dirty="0">
                <a:solidFill>
                  <a:srgbClr val="64748B"/>
                </a:solidFill>
                <a:latin typeface="Segoe UI" pitchFamily="34" charset="0"/>
                <a:ea typeface="Segoe UI" pitchFamily="34" charset="-122"/>
                <a:cs typeface="Segoe UI" pitchFamily="34" charset="-120"/>
              </a:rPr>
              <a:t>10 / 10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2026-07-15T21:55:25Z</dcterms:created>
  <dcterms:modified xsi:type="dcterms:W3CDTF">2026-07-15T21:55:25Z</dcterms:modified>
</cp:coreProperties>
</file>